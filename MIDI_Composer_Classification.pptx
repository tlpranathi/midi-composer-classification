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75b0ca73-379a-d542-469f-68e3e845bbe7}">
          <p14:sldIdLst>
            <p14:sldId id="256"/>
            <p14:sldId id="257"/>
            <p14:sldId id="258"/>
            <p14:sldId id="259"/>
          </p14:sldIdLst>
        </p14:section>
        <p14:section name="Part 1" id="{db00d4b9-1ff0-f396-1bea-f258e18543ec}">
          <p14:sldIdLst>
            <p14:sldId id="260"/>
            <p14:sldId id="261"/>
          </p14:sldIdLst>
        </p14:section>
        <p14:section name="Part 2" id="{c8bf5954-497f-d7dd-74fa-514c88e73a68}">
          <p14:sldIdLst>
            <p14:sldId id="262"/>
            <p14:sldId id="263"/>
            <p14:sldId id="264"/>
            <p14:sldId id="265"/>
          </p14:sldIdLst>
        </p14:section>
        <p14:section name="Wrap-up" id="{01c43e68-4ed7-5d4a-6176-dce174f43824}">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1530"/>
                </a:solidFill>
                <a:latin typeface="+mn-lt"/>
              </a:defRPr>
            </a:pPr>
            <a:r>
              <a:rPr sz="1400" b="0" i="0" u="none" strike="noStrike">
                <a:solidFill>
                  <a:srgbClr val="1E1530"/>
                </a:solidFill>
                <a:latin typeface="+mn-lt"/>
              </a:rPr>
              <a:t>Pieces per composer</a:t>
            </a:r>
          </a:p>
        </c:rich>
      </c:tx>
      <c:layout/>
      <c:overlay val="0"/>
    </c:title>
    <c:autoTitleDeleted val="0"/>
    <c:plotArea>
      <c:layout/>
      <c:barChart>
        <c:barDir val="bar"/>
        <c:grouping val="clustered"/>
        <c:varyColors val="0"/>
        <c:ser>
          <c:idx val="0"/>
          <c:order val="0"/>
          <c:tx>
            <c:strRef>
              <c:f>Sheet1!$B$1</c:f>
              <c:strCache>
                <c:ptCount val="1"/>
                <c:pt idx="0">
                  <c:v>Pieces</c:v>
                </c:pt>
              </c:strCache>
            </c:strRef>
          </c:tx>
          <c:spPr>
            <a:solidFill>
              <a:srgbClr val="5B3A8C"/>
            </a:solidFill>
            <a:effectLst/>
          </c:spPr>
          <c:invertIfNegative val="0"/>
          <c:dLbls>
            <c:numFmt formatCode="#,##0" sourceLinked="0"/>
            <c:txPr>
              <a:bodyPr/>
              <a:lstStyle/>
              <a:p>
                <a:pPr>
                  <a:defRPr b="0" i="0" strike="noStrike" sz="1200" u="none">
                    <a:solidFill>
                      <a:srgbClr val="1E1530"/>
                    </a:solidFill>
                    <a:latin typeface="+mn-lt"/>
                  </a:defRPr>
                </a:pPr>
              </a:p>
            </c:txPr>
            <c:showLegendKey val="0"/>
            <c:showVal val="1"/>
            <c:showCatName val="0"/>
            <c:showSerName val="0"/>
            <c:showPercent val="0"/>
            <c:showBubbleSize val="0"/>
            <c:showLeaderLines val="0"/>
          </c:dLbls>
          <c:cat>
            <c:multiLvlStrRef>
              <c:f>Sheet1!$A$2:$A$12</c:f>
              <c:multiLvlStrCache>
                <c:ptCount val="11"/>
                <c:lvl>
                  <c:pt idx="0">
                    <c:v>Chopin</c:v>
                  </c:pt>
                  <c:pt idx="1">
                    <c:v>Beethoven</c:v>
                  </c:pt>
                  <c:pt idx="2">
                    <c:v>Schubert</c:v>
                  </c:pt>
                  <c:pt idx="3">
                    <c:v>Schumann</c:v>
                  </c:pt>
                  <c:pt idx="4">
                    <c:v>Haydn</c:v>
                  </c:pt>
                  <c:pt idx="5">
                    <c:v>Mozart</c:v>
                  </c:pt>
                  <c:pt idx="6">
                    <c:v>Grieg</c:v>
                  </c:pt>
                  <c:pt idx="7">
                    <c:v>Liszt</c:v>
                  </c:pt>
                  <c:pt idx="8">
                    <c:v>Mendelssohn</c:v>
                  </c:pt>
                  <c:pt idx="9">
                    <c:v>Albéniz</c:v>
                  </c:pt>
                  <c:pt idx="10">
                    <c:v>Tchaikovsky</c:v>
                  </c:pt>
                </c:lvl>
              </c:multiLvlStrCache>
            </c:multiLvlStrRef>
          </c:cat>
          <c:val>
            <c:numRef>
              <c:f>Sheet1!$B$2:$B$12</c:f>
              <c:numCache>
                <c:formatCode>General</c:formatCode>
                <c:ptCount val="11"/>
                <c:pt idx="0">
                  <c:v>48</c:v>
                </c:pt>
                <c:pt idx="1">
                  <c:v>29</c:v>
                </c:pt>
                <c:pt idx="2">
                  <c:v>29</c:v>
                </c:pt>
                <c:pt idx="3">
                  <c:v>24</c:v>
                </c:pt>
                <c:pt idx="4">
                  <c:v>21</c:v>
                </c:pt>
                <c:pt idx="5">
                  <c:v>21</c:v>
                </c:pt>
                <c:pt idx="6">
                  <c:v>16</c:v>
                </c:pt>
                <c:pt idx="7">
                  <c:v>16</c:v>
                </c:pt>
                <c:pt idx="8">
                  <c:v>15</c:v>
                </c:pt>
                <c:pt idx="9">
                  <c:v>14</c:v>
                </c:pt>
                <c:pt idx="10">
                  <c:v>12</c:v>
                </c:pt>
              </c:numCache>
            </c:numRef>
          </c:val>
        </c:ser>
        <c:dLbls>
          <c:numFmt formatCode="#,##0" sourceLinked="0"/>
          <c:txPr>
            <a:bodyPr/>
            <a:lstStyle/>
            <a:p>
              <a:pPr>
                <a:defRPr b="0" i="0" strike="noStrike" sz="1200" u="none">
                  <a:solidFill>
                    <a:srgbClr val="1E1530"/>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1530"/>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C54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1530"/>
                </a:solidFill>
                <a:latin typeface="+mn-lt"/>
              </a:defRPr>
            </a:pPr>
            <a:r>
              <a:rPr sz="1400" b="0" i="0" u="none" strike="noStrike">
                <a:solidFill>
                  <a:srgbClr val="1E1530"/>
                </a:solidFill>
                <a:latin typeface="+mn-lt"/>
              </a:rPr>
              <a:t>Development set, five classical models</a:t>
            </a:r>
          </a:p>
        </c:rich>
      </c:tx>
      <c:layout/>
      <c:overlay val="0"/>
    </c:title>
    <c:autoTitleDeleted val="0"/>
    <c:plotArea>
      <c:layout/>
      <c:barChart>
        <c:barDir val="col"/>
        <c:grouping val="clustered"/>
        <c:varyColors val="0"/>
        <c:ser>
          <c:idx val="0"/>
          <c:order val="0"/>
          <c:tx>
            <c:strRef>
              <c:f>Sheet1!$B$1</c:f>
              <c:strCache>
                <c:ptCount val="1"/>
                <c:pt idx="0">
                  <c:v>Dev accuracy</c:v>
                </c:pt>
              </c:strCache>
            </c:strRef>
          </c:tx>
          <c:spPr>
            <a:solidFill>
              <a:srgbClr val="8E7AB5"/>
            </a:solidFill>
            <a:effectLst/>
          </c:spPr>
          <c:invertIfNegative val="0"/>
          <c:dLbls>
            <c:numFmt formatCode="0.00" sourceLinked="0"/>
            <c:txPr>
              <a:bodyPr/>
              <a:lstStyle/>
              <a:p>
                <a:pPr>
                  <a:defRPr b="0" i="0" strike="noStrike" sz="1200" u="none">
                    <a:solidFill>
                      <a:srgbClr val="1E1530"/>
                    </a:solidFill>
                    <a:latin typeface="+mn-lt"/>
                  </a:defRPr>
                </a:pPr>
              </a:p>
            </c:txPr>
            <c:showLegendKey val="0"/>
            <c:showVal val="1"/>
            <c:showCatName val="0"/>
            <c:showSerName val="0"/>
            <c:showPercent val="0"/>
            <c:showBubbleSize val="0"/>
            <c:showLeaderLines val="0"/>
          </c:dLbls>
          <c:cat>
            <c:multiLvlStrRef>
              <c:f>Sheet1!$A$2:$A$6</c:f>
              <c:multiLvlStrCache>
                <c:ptCount val="5"/>
                <c:lvl>
                  <c:pt idx="0">
                    <c:v>Logistic Reg.</c:v>
                  </c:pt>
                  <c:pt idx="1">
                    <c:v>RBF SVM</c:v>
                  </c:pt>
                  <c:pt idx="2">
                    <c:v>KNN</c:v>
                  </c:pt>
                  <c:pt idx="3">
                    <c:v>Grad. Boosting</c:v>
                  </c:pt>
                  <c:pt idx="4">
                    <c:v>LDA</c:v>
                  </c:pt>
                </c:lvl>
              </c:multiLvlStrCache>
            </c:multiLvlStrRef>
          </c:cat>
          <c:val>
            <c:numRef>
              <c:f>Sheet1!$B$2:$B$6</c:f>
              <c:numCache>
                <c:formatCode>General</c:formatCode>
                <c:ptCount val="5"/>
                <c:pt idx="0">
                  <c:v>0.469</c:v>
                </c:pt>
                <c:pt idx="1">
                  <c:v>0.531</c:v>
                </c:pt>
                <c:pt idx="2">
                  <c:v>0.429</c:v>
                </c:pt>
                <c:pt idx="3">
                  <c:v>0.388</c:v>
                </c:pt>
                <c:pt idx="4">
                  <c:v>0.327</c:v>
                </c:pt>
              </c:numCache>
            </c:numRef>
          </c:val>
        </c:ser>
        <c:ser>
          <c:idx val="1"/>
          <c:order val="1"/>
          <c:tx>
            <c:strRef>
              <c:f>Sheet1!$C$1</c:f>
              <c:strCache>
                <c:ptCount val="1"/>
                <c:pt idx="0">
                  <c:v>Dev macro-F1</c:v>
                </c:pt>
              </c:strCache>
            </c:strRef>
          </c:tx>
          <c:spPr>
            <a:solidFill>
              <a:srgbClr val="5B3A8C"/>
            </a:solidFill>
            <a:effectLst/>
          </c:spPr>
          <c:invertIfNegative val="0"/>
          <c:dLbls>
            <c:numFmt formatCode="0.00" sourceLinked="0"/>
            <c:txPr>
              <a:bodyPr/>
              <a:lstStyle/>
              <a:p>
                <a:pPr>
                  <a:defRPr b="0" i="0" strike="noStrike" sz="1200" u="none">
                    <a:solidFill>
                      <a:srgbClr val="1E1530"/>
                    </a:solidFill>
                    <a:latin typeface="+mn-lt"/>
                  </a:defRPr>
                </a:pPr>
              </a:p>
            </c:txPr>
            <c:showLegendKey val="0"/>
            <c:showVal val="1"/>
            <c:showCatName val="0"/>
            <c:showSerName val="0"/>
            <c:showPercent val="0"/>
            <c:showBubbleSize val="0"/>
            <c:showLeaderLines val="0"/>
          </c:dLbls>
          <c:cat>
            <c:multiLvlStrRef>
              <c:f>Sheet1!$A$2:$A$6</c:f>
              <c:multiLvlStrCache>
                <c:ptCount val="5"/>
                <c:lvl>
                  <c:pt idx="0">
                    <c:v>Logistic Reg.</c:v>
                  </c:pt>
                  <c:pt idx="1">
                    <c:v>RBF SVM</c:v>
                  </c:pt>
                  <c:pt idx="2">
                    <c:v>KNN</c:v>
                  </c:pt>
                  <c:pt idx="3">
                    <c:v>Grad. Boosting</c:v>
                  </c:pt>
                  <c:pt idx="4">
                    <c:v>LDA</c:v>
                  </c:pt>
                </c:lvl>
              </c:multiLvlStrCache>
            </c:multiLvlStrRef>
          </c:cat>
          <c:val>
            <c:numRef>
              <c:f>Sheet1!$C$2:$C$6</c:f>
              <c:numCache>
                <c:formatCode>General</c:formatCode>
                <c:ptCount val="5"/>
                <c:pt idx="0">
                  <c:v>0.479</c:v>
                </c:pt>
                <c:pt idx="1">
                  <c:v>0.402</c:v>
                </c:pt>
                <c:pt idx="2">
                  <c:v>0.353</c:v>
                </c:pt>
                <c:pt idx="3">
                  <c:v>0.34</c:v>
                </c:pt>
                <c:pt idx="4">
                  <c:v>0.28</c:v>
                </c:pt>
              </c:numCache>
            </c:numRef>
          </c:val>
        </c:ser>
        <c:dLbls>
          <c:numFmt formatCode="0.00" sourceLinked="0"/>
          <c:txPr>
            <a:bodyPr/>
            <a:lstStyle/>
            <a:p>
              <a:pPr>
                <a:defRPr b="0" i="0" strike="noStrike" sz="1200" u="none">
                  <a:solidFill>
                    <a:srgbClr val="1E1530"/>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1530"/>
                </a:solidFill>
                <a:latin typeface="+mn-lt"/>
              </a:defRPr>
            </a:pPr>
            <a:endParaRPr lang="en-US"/>
          </a:p>
        </c:txPr>
        <c:crossAx val="2094734552"/>
        <c:crosses val="autoZero"/>
        <c:auto val="1"/>
        <c:lblAlgn val="ctr"/>
        <c:noMultiLvlLbl val="1"/>
      </c:catAx>
      <c:valAx>
        <c:axId val="2094734552"/>
        <c:scaling>
          <c:orientation val="minMax"/>
          <c:max val="0.6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54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E153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1530"/>
                </a:solidFill>
                <a:latin typeface="+mn-lt"/>
              </a:defRPr>
            </a:pPr>
            <a:r>
              <a:rPr sz="1400" b="0" i="0" u="none" strike="noStrike">
                <a:solidFill>
                  <a:srgbClr val="1E1530"/>
                </a:solidFill>
                <a:latin typeface="+mn-lt"/>
              </a:rPr>
              <a:t>Features added step by step (RBF SVM)</a:t>
            </a:r>
          </a:p>
        </c:rich>
      </c:tx>
      <c:layout/>
      <c:overlay val="0"/>
    </c:title>
    <c:autoTitleDeleted val="0"/>
    <c:plotArea>
      <c:layout/>
      <c:barChart>
        <c:barDir val="col"/>
        <c:grouping val="clustered"/>
        <c:varyColors val="0"/>
        <c:ser>
          <c:idx val="0"/>
          <c:order val="0"/>
          <c:tx>
            <c:strRef>
              <c:f>Sheet1!$B$1</c:f>
              <c:strCache>
                <c:ptCount val="1"/>
                <c:pt idx="0">
                  <c:v>Accuracy</c:v>
                </c:pt>
              </c:strCache>
            </c:strRef>
          </c:tx>
          <c:spPr>
            <a:solidFill>
              <a:srgbClr val="5B3A8C"/>
            </a:solidFill>
            <a:effectLst/>
          </c:spPr>
          <c:invertIfNegative val="0"/>
          <c:dLbls>
            <c:numFmt formatCode="0.00" sourceLinked="0"/>
            <c:txPr>
              <a:bodyPr/>
              <a:lstStyle/>
              <a:p>
                <a:pPr>
                  <a:defRPr b="0" i="0" strike="noStrike" sz="1200" u="none">
                    <a:solidFill>
                      <a:srgbClr val="1E1530"/>
                    </a:solidFill>
                    <a:latin typeface="+mn-lt"/>
                  </a:defRPr>
                </a:pPr>
              </a:p>
            </c:txPr>
            <c:showLegendKey val="0"/>
            <c:showVal val="1"/>
            <c:showCatName val="0"/>
            <c:showSerName val="0"/>
            <c:showPercent val="0"/>
            <c:showBubbleSize val="0"/>
            <c:showLeaderLines val="0"/>
          </c:dLbls>
          <c:cat>
            <c:multiLvlStrRef>
              <c:f>Sheet1!$A$2:$A$5</c:f>
              <c:multiLvlStrCache>
                <c:ptCount val="4"/>
                <c:lvl>
                  <c:pt idx="0">
                    <c:v>20 features</c:v>
                  </c:pt>
                  <c:pt idx="1">
                    <c:v>28</c:v>
                  </c:pt>
                  <c:pt idx="2">
                    <c:v>53</c:v>
                  </c:pt>
                  <c:pt idx="3">
                    <c:v>78</c:v>
                  </c:pt>
                </c:lvl>
              </c:multiLvlStrCache>
            </c:multiLvlStrRef>
          </c:cat>
          <c:val>
            <c:numRef>
              <c:f>Sheet1!$B$2:$B$5</c:f>
              <c:numCache>
                <c:formatCode>General</c:formatCode>
                <c:ptCount val="4"/>
                <c:pt idx="0">
                  <c:v>0.408</c:v>
                </c:pt>
                <c:pt idx="1">
                  <c:v>0.51</c:v>
                </c:pt>
                <c:pt idx="2">
                  <c:v>0.551</c:v>
                </c:pt>
                <c:pt idx="3">
                  <c:v>0.571</c:v>
                </c:pt>
              </c:numCache>
            </c:numRef>
          </c:val>
        </c:ser>
        <c:ser>
          <c:idx val="1"/>
          <c:order val="1"/>
          <c:tx>
            <c:strRef>
              <c:f>Sheet1!$C$1</c:f>
              <c:strCache>
                <c:ptCount val="1"/>
                <c:pt idx="0">
                  <c:v>Macro-F1</c:v>
                </c:pt>
              </c:strCache>
            </c:strRef>
          </c:tx>
          <c:spPr>
            <a:solidFill>
              <a:srgbClr val="8E7AB5"/>
            </a:solidFill>
            <a:effectLst/>
          </c:spPr>
          <c:invertIfNegative val="0"/>
          <c:dLbls>
            <c:numFmt formatCode="0.00" sourceLinked="0"/>
            <c:txPr>
              <a:bodyPr/>
              <a:lstStyle/>
              <a:p>
                <a:pPr>
                  <a:defRPr b="0" i="0" strike="noStrike" sz="1200" u="none">
                    <a:solidFill>
                      <a:srgbClr val="1E1530"/>
                    </a:solidFill>
                    <a:latin typeface="+mn-lt"/>
                  </a:defRPr>
                </a:pPr>
              </a:p>
            </c:txPr>
            <c:showLegendKey val="0"/>
            <c:showVal val="1"/>
            <c:showCatName val="0"/>
            <c:showSerName val="0"/>
            <c:showPercent val="0"/>
            <c:showBubbleSize val="0"/>
            <c:showLeaderLines val="0"/>
          </c:dLbls>
          <c:cat>
            <c:multiLvlStrRef>
              <c:f>Sheet1!$A$2:$A$5</c:f>
              <c:multiLvlStrCache>
                <c:ptCount val="4"/>
                <c:lvl>
                  <c:pt idx="0">
                    <c:v>20 features</c:v>
                  </c:pt>
                  <c:pt idx="1">
                    <c:v>28</c:v>
                  </c:pt>
                  <c:pt idx="2">
                    <c:v>53</c:v>
                  </c:pt>
                  <c:pt idx="3">
                    <c:v>78</c:v>
                  </c:pt>
                </c:lvl>
              </c:multiLvlStrCache>
            </c:multiLvlStrRef>
          </c:cat>
          <c:val>
            <c:numRef>
              <c:f>Sheet1!$C$2:$C$5</c:f>
              <c:numCache>
                <c:formatCode>General</c:formatCode>
                <c:ptCount val="4"/>
                <c:pt idx="0">
                  <c:v>0.388</c:v>
                </c:pt>
                <c:pt idx="1">
                  <c:v>0.462</c:v>
                </c:pt>
                <c:pt idx="2">
                  <c:v>0.511</c:v>
                </c:pt>
                <c:pt idx="3">
                  <c:v>0.545</c:v>
                </c:pt>
              </c:numCache>
            </c:numRef>
          </c:val>
        </c:ser>
        <c:dLbls>
          <c:numFmt formatCode="0.00" sourceLinked="0"/>
          <c:txPr>
            <a:bodyPr/>
            <a:lstStyle/>
            <a:p>
              <a:pPr>
                <a:defRPr b="0" i="0" strike="noStrike" sz="1200" u="none">
                  <a:solidFill>
                    <a:srgbClr val="1E1530"/>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1530"/>
                </a:solidFill>
                <a:latin typeface="+mn-lt"/>
              </a:defRPr>
            </a:pPr>
            <a:endParaRPr lang="en-US"/>
          </a:p>
        </c:txPr>
        <c:crossAx val="2094734552"/>
        <c:crosses val="autoZero"/>
        <c:auto val="1"/>
        <c:lblAlgn val="ctr"/>
        <c:noMultiLvlLbl val="1"/>
      </c:catAx>
      <c:valAx>
        <c:axId val="2094734552"/>
        <c:scaling>
          <c:orientation val="minMax"/>
          <c:max val="0.7"/>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54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E153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1530"/>
                </a:solidFill>
                <a:latin typeface="+mn-lt"/>
              </a:defRPr>
            </a:pPr>
            <a:r>
              <a:rPr sz="1400" b="0" i="0" u="none" strike="noStrike">
                <a:solidFill>
                  <a:srgbClr val="1E1530"/>
                </a:solidFill>
                <a:latin typeface="+mn-lt"/>
              </a:rPr>
              <a:t>Held-out test set, 49 pieces</a:t>
            </a:r>
          </a:p>
        </c:rich>
      </c:tx>
      <c:layout/>
      <c:overlay val="0"/>
    </c:title>
    <c:autoTitleDeleted val="0"/>
    <c:plotArea>
      <c:layout/>
      <c:barChart>
        <c:barDir val="col"/>
        <c:grouping val="clustered"/>
        <c:varyColors val="0"/>
        <c:ser>
          <c:idx val="0"/>
          <c:order val="0"/>
          <c:tx>
            <c:strRef>
              <c:f>Sheet1!$B$1</c:f>
              <c:strCache>
                <c:ptCount val="1"/>
                <c:pt idx="0">
                  <c:v>Test accuracy</c:v>
                </c:pt>
              </c:strCache>
            </c:strRef>
          </c:tx>
          <c:spPr>
            <a:solidFill>
              <a:srgbClr val="1F8A8A"/>
            </a:solidFill>
            <a:effectLst/>
          </c:spPr>
          <c:invertIfNegative val="0"/>
          <c:dLbls>
            <c:numFmt formatCode="0.00" sourceLinked="0"/>
            <c:txPr>
              <a:bodyPr/>
              <a:lstStyle/>
              <a:p>
                <a:pPr>
                  <a:defRPr b="0" i="0" strike="noStrike" sz="1200" u="none">
                    <a:solidFill>
                      <a:srgbClr val="1E1530"/>
                    </a:solidFill>
                    <a:latin typeface="+mn-lt"/>
                  </a:defRPr>
                </a:pPr>
              </a:p>
            </c:txPr>
            <c:showLegendKey val="0"/>
            <c:showVal val="1"/>
            <c:showCatName val="0"/>
            <c:showSerName val="0"/>
            <c:showPercent val="0"/>
            <c:showBubbleSize val="0"/>
            <c:showLeaderLines val="0"/>
          </c:dLbls>
          <c:cat>
            <c:multiLvlStrRef>
              <c:f>Sheet1!$A$2:$A$5</c:f>
              <c:multiLvlStrCache>
                <c:ptCount val="4"/>
                <c:lvl>
                  <c:pt idx="0">
                    <c:v>FCNN</c:v>
                  </c:pt>
                  <c:pt idx="1">
                    <c:v>Logistic Reg.</c:v>
                  </c:pt>
                  <c:pt idx="2">
                    <c:v>CNN + aug.</c:v>
                  </c:pt>
                  <c:pt idx="3">
                    <c:v>CNN</c:v>
                  </c:pt>
                </c:lvl>
              </c:multiLvlStrCache>
            </c:multiLvlStrRef>
          </c:cat>
          <c:val>
            <c:numRef>
              <c:f>Sheet1!$B$2:$B$5</c:f>
              <c:numCache>
                <c:formatCode>General</c:formatCode>
                <c:ptCount val="4"/>
                <c:pt idx="0">
                  <c:v>0.51</c:v>
                </c:pt>
                <c:pt idx="1">
                  <c:v>0.469</c:v>
                </c:pt>
                <c:pt idx="2">
                  <c:v>0.265</c:v>
                </c:pt>
                <c:pt idx="3">
                  <c:v>0.184</c:v>
                </c:pt>
              </c:numCache>
            </c:numRef>
          </c:val>
        </c:ser>
        <c:ser>
          <c:idx val="1"/>
          <c:order val="1"/>
          <c:tx>
            <c:strRef>
              <c:f>Sheet1!$C$1</c:f>
              <c:strCache>
                <c:ptCount val="1"/>
                <c:pt idx="0">
                  <c:v>Test macro-F1</c:v>
                </c:pt>
              </c:strCache>
            </c:strRef>
          </c:tx>
          <c:spPr>
            <a:solidFill>
              <a:srgbClr val="6BB5B5"/>
            </a:solidFill>
            <a:effectLst/>
          </c:spPr>
          <c:invertIfNegative val="0"/>
          <c:dLbls>
            <c:numFmt formatCode="0.00" sourceLinked="0"/>
            <c:txPr>
              <a:bodyPr/>
              <a:lstStyle/>
              <a:p>
                <a:pPr>
                  <a:defRPr b="0" i="0" strike="noStrike" sz="1200" u="none">
                    <a:solidFill>
                      <a:srgbClr val="1E1530"/>
                    </a:solidFill>
                    <a:latin typeface="+mn-lt"/>
                  </a:defRPr>
                </a:pPr>
              </a:p>
            </c:txPr>
            <c:showLegendKey val="0"/>
            <c:showVal val="1"/>
            <c:showCatName val="0"/>
            <c:showSerName val="0"/>
            <c:showPercent val="0"/>
            <c:showBubbleSize val="0"/>
            <c:showLeaderLines val="0"/>
          </c:dLbls>
          <c:cat>
            <c:multiLvlStrRef>
              <c:f>Sheet1!$A$2:$A$5</c:f>
              <c:multiLvlStrCache>
                <c:ptCount val="4"/>
                <c:lvl>
                  <c:pt idx="0">
                    <c:v>FCNN</c:v>
                  </c:pt>
                  <c:pt idx="1">
                    <c:v>Logistic Reg.</c:v>
                  </c:pt>
                  <c:pt idx="2">
                    <c:v>CNN + aug.</c:v>
                  </c:pt>
                  <c:pt idx="3">
                    <c:v>CNN</c:v>
                  </c:pt>
                </c:lvl>
              </c:multiLvlStrCache>
            </c:multiLvlStrRef>
          </c:cat>
          <c:val>
            <c:numRef>
              <c:f>Sheet1!$C$2:$C$5</c:f>
              <c:numCache>
                <c:formatCode>General</c:formatCode>
                <c:ptCount val="4"/>
                <c:pt idx="0">
                  <c:v>0.502</c:v>
                </c:pt>
                <c:pt idx="1">
                  <c:v>0.451</c:v>
                </c:pt>
                <c:pt idx="2">
                  <c:v>0.293</c:v>
                </c:pt>
                <c:pt idx="3">
                  <c:v>0.133</c:v>
                </c:pt>
              </c:numCache>
            </c:numRef>
          </c:val>
        </c:ser>
        <c:dLbls>
          <c:numFmt formatCode="0.00" sourceLinked="0"/>
          <c:txPr>
            <a:bodyPr/>
            <a:lstStyle/>
            <a:p>
              <a:pPr>
                <a:defRPr b="0" i="0" strike="noStrike" sz="1200" u="none">
                  <a:solidFill>
                    <a:srgbClr val="1E1530"/>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1530"/>
                </a:solidFill>
                <a:latin typeface="+mn-lt"/>
              </a:defRPr>
            </a:pPr>
            <a:endParaRPr lang="en-US"/>
          </a:p>
        </c:txPr>
        <c:crossAx val="2094734552"/>
        <c:crosses val="autoZero"/>
        <c:auto val="1"/>
        <c:lblAlgn val="ctr"/>
        <c:noMultiLvlLbl val="1"/>
      </c:catAx>
      <c:valAx>
        <c:axId val="2094734552"/>
        <c:scaling>
          <c:orientation val="minMax"/>
          <c:max val="0.62"/>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54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E153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The question: can symbolic MIDI data alone tell you who composed a piece of classical piano music? Part 1 uses hand-engineered features with classic ML; Part 2 uses neural networks on the same data and the same split. The decorative bars on the right are a piano roll, which is exactly the representation the CNN in Part 2 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 MIDI files from 11 composers. Every file was audited: it parses, has notes, and is not a byte-identical duplicate. Classes are very uneven, from 12 pieces (Tchaikovsky) to 48 (Chopin), which is why we use class weights and macro-F1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78 features computed with pretty_midi. The two interval histograms (shown in purple) make up 50 of the 78 features and turn out to matter most. Caveat on melodic intervals: they are computed from all notes sorted by start time, without separating voices or hands, so they describe overall pitch movement, not a true melodic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model, classical or neural, is trained and compared on the same stratified 60/20/20 split with seed 42, so the numbers are directly comparable. The test set is evaluated once per model. Two baselines to keep in mind: random guessing is about 9%, and always predicting the largest class (Chopin) gets 9 of 49 test pieces, 18.4%.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classical models on the 78 features. The SVM has the highest dev accuracy (0.531) but Logistic Regression has the best dev macro-F1 (0.479), and macro-F1 was the selection metric. On 49 development pieces the gap is small, so do not over-read the choice. Logistic Regression, refit on train plus dev, scores 46.9% accuracy and 0.451 macro-F1 on the held-out test set, which is about five times better than random. Best composers: Liszt and Haydn. Grieg was never identified.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supporting experiments. Left: adding the melodic and vertical interval histograms to the SVM raises accuracy from 0.408 to 0.571, which suggests interval information helps. This used an earlier 80/20 split, so it is not comparable to the test results, and the whole range is only 8 pieces out of 49. Right: separating Classical (Haydn, Mozart) from Romantic (everyone else) is much easier than naming the composer, 0.964 macro-F1 with all features. But 83 percent of the data is Romantic, so accuracy alone would flatter the model; interval features alone give 0.893 macro-F1. PCA showed performance peaks around 30 components, so many of the 78 features are redundant.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data, same split. Top path: the 78 features go into a small PyTorch fully connected network, one hidden layer of 128 units with dropout 0.3, class-weighted loss, AdamW, early stopping on dev macro-F1. Bottom path: every MIDI file is converted to a 64 by 1536 piano roll, velocity as the cell value, and fed to a deliberately small CNN of five conv blocks with global average pooling. The CNN is trained twice, with and without augmentation: random transposition up to 6 semitones, time shift up to 15 seconds, and masking a random segment of up to 20 seconds. Note: the neural nets train on the training set only; the classical final model was refit on train plus dev.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test results, every model on the same 49 pieces. The fully connected network on the 78 features is best: 0.510 accuracy, 0.502 macro-F1, 25 of 49 correct. Logistic Regression is next at 0.469. The CNNs on piano rolls are far behind: 0.265 accuracy with augmentation and 0.184 without. 0.184 equals 9 of 49, which is exactly what always predicting Chopin would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the limits of the comparison. (1) The CNN underperforms because 147 training pieces is too little to learn style from scratch. (2) The plain CNN's 9 of 49 equals the majority-class baseline. (3) Augmentation lifted it to 13 of 49, but the dev accuracy was identical for both runs and each run is a single seed on a 49-piece test set. (4) FCNN and Logistic Regression differ by two pieces, which is not a reliable ranking, and they are not trained identically.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Streamlit app: run `python -m streamlit run src/app.py`. Trained weights are in the models folder, so it works without retraining. Pick a composer folder and file, or upload a MIDI. The app shows the piano roll and the CNN's predicted composer with class probabilities. For dataset pieces it also shows the fully connected network, because that model needs the 78 stored features, which are only precomputed for dataset files. If the piece was in the training set, the prediction is optimistic.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what the results can and cannot support. The biggest caveat is leakage: splits are per MIDI file, not per composition, so different movements of the same work can sit in train and test, which makes the task look easier. The test set is tiny, and the neural results are single-seed. Next steps are mostly about more reliable evaluation and better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about 47 to 51 percent across 11 classes, several times better than chance, with the best model being the small fully connected network on engineered features. Remind the audience that the exact ordering among the top models is within noise on a 49-piece test set. Code and results: github.com/tlpranathi/midi-composer-classification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457200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606040"/>
            <a:ext cx="4480560" cy="8229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502920"/>
            <a:ext cx="8229600"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47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8046720" cy="6858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4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4572000" cy="1371600"/>
          </a:xfrm>
          <a:prstGeom prst="rect">
            <a:avLst/>
          </a:prstGeom>
          <a:noFill/>
          <a:ln/>
        </p:spPr>
        <p:txBody>
          <a:bodyPr wrap="square" lIns="0" tIns="0" rIns="0" bIns="0" rtlCol="0" anchor="t"/>
          <a:lstStyle/>
          <a:p>
            <a:pPr algn="l" indent="0" marL="0">
              <a:buNone/>
            </a:pPr>
            <a:r>
              <a:rPr lang="en-US" sz="4000" b="1" dirty="0">
                <a:solidFill>
                  <a:schemeClr val="bg1"/>
                </a:solidFill>
              </a:rPr>
              <a:t>Who wrote this piece?</a:t>
            </a:r>
            <a:endParaRPr lang="en-US" sz="4000" dirty="0"/>
          </a:p>
        </p:txBody>
      </p:sp>
      <p:sp>
        <p:nvSpPr>
          <p:cNvPr id="3" name="Text 0"/>
          <p:cNvSpPr/>
          <p:nvPr>
            <p:ph idx="101" type="body" hasCustomPrompt="1"/>
          </p:nvPr>
        </p:nvSpPr>
        <p:spPr>
          <a:xfrm>
            <a:off x="548640" y="2606040"/>
            <a:ext cx="4480560" cy="822960"/>
          </a:xfrm>
          <a:prstGeom prst="rect">
            <a:avLst/>
          </a:prstGeom>
          <a:noFill/>
          <a:ln/>
        </p:spPr>
        <p:txBody>
          <a:bodyPr wrap="square" lIns="0" tIns="0" rIns="0" bIns="0" rtlCol="0" anchor="t"/>
          <a:lstStyle/>
          <a:p>
            <a:pPr algn="l" indent="0" marL="0">
              <a:buNone/>
            </a:pPr>
            <a:r>
              <a:rPr lang="en-US" sz="2000" dirty="0">
                <a:solidFill>
                  <a:schemeClr val="bg2"/>
                </a:solidFill>
              </a:rPr>
              <a:t>Composer classification from symbolic MIDI data</a:t>
            </a:r>
            <a:endParaRPr lang="en-US" sz="2000" dirty="0"/>
          </a:p>
        </p:txBody>
      </p:sp>
      <p:sp>
        <p:nvSpPr>
          <p:cNvPr id="4" name="Parts"/>
          <p:cNvSpPr txBox="1"/>
          <p:nvPr/>
        </p:nvSpPr>
        <p:spPr>
          <a:xfrm>
            <a:off x="548640" y="3429000"/>
            <a:ext cx="4572000" cy="685800"/>
          </a:xfrm>
          <a:prstGeom prst="rect">
            <a:avLst/>
          </a:prstGeom>
          <a:noFill/>
          <a:ln/>
        </p:spPr>
        <p:txBody>
          <a:bodyPr wrap="square" lIns="0" tIns="0" rIns="0" bIns="0" rtlCol="0" anchor="t"/>
          <a:lstStyle/>
          <a:p>
            <a:pPr indent="0" marL="0">
              <a:spcAft>
                <a:spcPts val="400"/>
              </a:spcAft>
              <a:buNone/>
            </a:pPr>
            <a:r>
              <a:rPr lang="en-US" sz="1600" b="1" dirty="0">
                <a:solidFill>
                  <a:schemeClr val="accent3"/>
                </a:solidFill>
              </a:rPr>
              <a:t>Part 1  </a:t>
            </a:r>
            <a:pPr indent="0" marL="0">
              <a:spcAft>
                <a:spcPts val="400"/>
              </a:spcAft>
              <a:buNone/>
            </a:pPr>
            <a:r>
              <a:rPr lang="en-US" sz="1600" dirty="0">
                <a:solidFill>
                  <a:schemeClr val="bg1"/>
                </a:solidFill>
              </a:rPr>
              <a:t>Feature-based machine learning</a:t>
            </a:r>
            <a:endParaRPr lang="en-US" sz="1600" dirty="0"/>
          </a:p>
          <a:p>
            <a:pPr indent="0" marL="0">
              <a:spcAft>
                <a:spcPts val="400"/>
              </a:spcAft>
              <a:buNone/>
            </a:pPr>
            <a:r>
              <a:rPr lang="en-US" sz="1600" b="1" dirty="0">
                <a:solidFill>
                  <a:schemeClr val="accent3"/>
                </a:solidFill>
              </a:rPr>
              <a:t>Part 2  </a:t>
            </a:r>
            <a:pPr indent="0" marL="0">
              <a:spcAft>
                <a:spcPts val="400"/>
              </a:spcAft>
              <a:buNone/>
            </a:pPr>
            <a:r>
              <a:rPr lang="en-US" sz="1600" dirty="0">
                <a:solidFill>
                  <a:schemeClr val="bg1"/>
                </a:solidFill>
              </a:rPr>
              <a:t>Deep learning: FCNN and CNN</a:t>
            </a:r>
            <a:endParaRPr lang="en-US" sz="1600" dirty="0"/>
          </a:p>
        </p:txBody>
      </p:sp>
      <p:sp>
        <p:nvSpPr>
          <p:cNvPr id="5" name="Authors"/>
          <p:cNvSpPr txBox="1"/>
          <p:nvPr/>
        </p:nvSpPr>
        <p:spPr>
          <a:xfrm>
            <a:off x="548640" y="4343400"/>
            <a:ext cx="4754880" cy="274320"/>
          </a:xfrm>
          <a:prstGeom prst="rect">
            <a:avLst/>
          </a:prstGeom>
          <a:noFill/>
          <a:ln/>
        </p:spPr>
        <p:txBody>
          <a:bodyPr wrap="square" lIns="0" tIns="0" rIns="0" bIns="0" rtlCol="0" anchor="ctr"/>
          <a:lstStyle/>
          <a:p>
            <a:pPr indent="0" marL="0">
              <a:buNone/>
            </a:pPr>
            <a:r>
              <a:rPr lang="en-US" sz="1200" dirty="0">
                <a:solidFill>
                  <a:schemeClr val="bg2"/>
                </a:solidFill>
              </a:rPr>
              <a:t>Lakshmi Pranathi Tummalapenta  ·  Marella Likhita Sri Durga</a:t>
            </a:r>
            <a:endParaRPr lang="en-US" sz="1200" dirty="0"/>
          </a:p>
        </p:txBody>
      </p:sp>
      <p:sp>
        <p:nvSpPr>
          <p:cNvPr id="6" name="Note bar"/>
          <p:cNvSpPr/>
          <p:nvPr/>
        </p:nvSpPr>
        <p:spPr>
          <a:xfrm>
            <a:off x="5759374" y="685800"/>
            <a:ext cx="342396" cy="146304"/>
          </a:xfrm>
          <a:prstGeom prst="roundRect">
            <a:avLst>
              <a:gd name="adj" fmla="val 25000"/>
            </a:avLst>
          </a:prstGeom>
          <a:solidFill>
            <a:schemeClr val="accent3">
              <a:alpha val="60000"/>
            </a:schemeClr>
          </a:solidFill>
          <a:ln/>
        </p:spPr>
      </p:sp>
      <p:sp>
        <p:nvSpPr>
          <p:cNvPr id="7" name="Note bar"/>
          <p:cNvSpPr/>
          <p:nvPr/>
        </p:nvSpPr>
        <p:spPr>
          <a:xfrm>
            <a:off x="6292661" y="685800"/>
            <a:ext cx="733733" cy="146304"/>
          </a:xfrm>
          <a:prstGeom prst="roundRect">
            <a:avLst>
              <a:gd name="adj" fmla="val 25000"/>
            </a:avLst>
          </a:prstGeom>
          <a:solidFill>
            <a:schemeClr val="accent4">
              <a:alpha val="46000"/>
            </a:schemeClr>
          </a:solidFill>
          <a:ln/>
        </p:spPr>
      </p:sp>
      <p:sp>
        <p:nvSpPr>
          <p:cNvPr id="8" name="Note bar"/>
          <p:cNvSpPr/>
          <p:nvPr/>
        </p:nvSpPr>
        <p:spPr>
          <a:xfrm>
            <a:off x="7129621" y="685800"/>
            <a:ext cx="269763" cy="146304"/>
          </a:xfrm>
          <a:prstGeom prst="roundRect">
            <a:avLst>
              <a:gd name="adj" fmla="val 25000"/>
            </a:avLst>
          </a:prstGeom>
          <a:solidFill>
            <a:schemeClr val="accent4">
              <a:alpha val="73000"/>
            </a:schemeClr>
          </a:solidFill>
          <a:ln/>
        </p:spPr>
      </p:sp>
      <p:sp>
        <p:nvSpPr>
          <p:cNvPr id="9" name="Note bar"/>
          <p:cNvSpPr/>
          <p:nvPr/>
        </p:nvSpPr>
        <p:spPr>
          <a:xfrm>
            <a:off x="7453402" y="685800"/>
            <a:ext cx="186533" cy="146304"/>
          </a:xfrm>
          <a:prstGeom prst="roundRect">
            <a:avLst>
              <a:gd name="adj" fmla="val 25000"/>
            </a:avLst>
          </a:prstGeom>
          <a:solidFill>
            <a:schemeClr val="accent3">
              <a:alpha val="54000"/>
            </a:schemeClr>
          </a:solidFill>
          <a:ln/>
        </p:spPr>
      </p:sp>
      <p:sp>
        <p:nvSpPr>
          <p:cNvPr id="10" name="Note bar"/>
          <p:cNvSpPr/>
          <p:nvPr/>
        </p:nvSpPr>
        <p:spPr>
          <a:xfrm>
            <a:off x="7888988" y="685800"/>
            <a:ext cx="180854" cy="146304"/>
          </a:xfrm>
          <a:prstGeom prst="roundRect">
            <a:avLst>
              <a:gd name="adj" fmla="val 25000"/>
            </a:avLst>
          </a:prstGeom>
          <a:solidFill>
            <a:schemeClr val="accent4">
              <a:alpha val="81000"/>
            </a:schemeClr>
          </a:solidFill>
          <a:ln/>
        </p:spPr>
      </p:sp>
      <p:sp>
        <p:nvSpPr>
          <p:cNvPr id="11" name="Note bar"/>
          <p:cNvSpPr/>
          <p:nvPr/>
        </p:nvSpPr>
        <p:spPr>
          <a:xfrm>
            <a:off x="8360343" y="685800"/>
            <a:ext cx="184421" cy="146304"/>
          </a:xfrm>
          <a:prstGeom prst="roundRect">
            <a:avLst>
              <a:gd name="adj" fmla="val 25000"/>
            </a:avLst>
          </a:prstGeom>
          <a:solidFill>
            <a:schemeClr val="accent4">
              <a:alpha val="89000"/>
            </a:schemeClr>
          </a:solidFill>
          <a:ln/>
        </p:spPr>
      </p:sp>
      <p:sp>
        <p:nvSpPr>
          <p:cNvPr id="12" name="Note bar"/>
          <p:cNvSpPr/>
          <p:nvPr/>
        </p:nvSpPr>
        <p:spPr>
          <a:xfrm>
            <a:off x="5824174" y="923544"/>
            <a:ext cx="729151" cy="146304"/>
          </a:xfrm>
          <a:prstGeom prst="roundRect">
            <a:avLst>
              <a:gd name="adj" fmla="val 25000"/>
            </a:avLst>
          </a:prstGeom>
          <a:solidFill>
            <a:schemeClr val="accent3">
              <a:alpha val="57000"/>
            </a:schemeClr>
          </a:solidFill>
          <a:ln/>
        </p:spPr>
      </p:sp>
      <p:sp>
        <p:nvSpPr>
          <p:cNvPr id="13" name="Note bar"/>
          <p:cNvSpPr/>
          <p:nvPr/>
        </p:nvSpPr>
        <p:spPr>
          <a:xfrm>
            <a:off x="7867443" y="923544"/>
            <a:ext cx="351739" cy="146304"/>
          </a:xfrm>
          <a:prstGeom prst="roundRect">
            <a:avLst>
              <a:gd name="adj" fmla="val 25000"/>
            </a:avLst>
          </a:prstGeom>
          <a:solidFill>
            <a:schemeClr val="accent4">
              <a:alpha val="81000"/>
            </a:schemeClr>
          </a:solidFill>
          <a:ln/>
        </p:spPr>
      </p:sp>
      <p:sp>
        <p:nvSpPr>
          <p:cNvPr id="14" name="Note bar"/>
          <p:cNvSpPr/>
          <p:nvPr/>
        </p:nvSpPr>
        <p:spPr>
          <a:xfrm>
            <a:off x="8391640" y="923544"/>
            <a:ext cx="295160" cy="146304"/>
          </a:xfrm>
          <a:prstGeom prst="roundRect">
            <a:avLst>
              <a:gd name="adj" fmla="val 25000"/>
            </a:avLst>
          </a:prstGeom>
          <a:solidFill>
            <a:schemeClr val="accent5">
              <a:alpha val="53000"/>
            </a:schemeClr>
          </a:solidFill>
          <a:ln/>
        </p:spPr>
      </p:sp>
      <p:sp>
        <p:nvSpPr>
          <p:cNvPr id="15" name="Note bar"/>
          <p:cNvSpPr/>
          <p:nvPr/>
        </p:nvSpPr>
        <p:spPr>
          <a:xfrm>
            <a:off x="5647913" y="1161288"/>
            <a:ext cx="629186" cy="146304"/>
          </a:xfrm>
          <a:prstGeom prst="roundRect">
            <a:avLst>
              <a:gd name="adj" fmla="val 25000"/>
            </a:avLst>
          </a:prstGeom>
          <a:solidFill>
            <a:schemeClr val="accent5">
              <a:alpha val="65000"/>
            </a:schemeClr>
          </a:solidFill>
          <a:ln/>
        </p:spPr>
      </p:sp>
      <p:sp>
        <p:nvSpPr>
          <p:cNvPr id="16" name="Note bar"/>
          <p:cNvSpPr/>
          <p:nvPr/>
        </p:nvSpPr>
        <p:spPr>
          <a:xfrm>
            <a:off x="6387931" y="1161288"/>
            <a:ext cx="196310" cy="146304"/>
          </a:xfrm>
          <a:prstGeom prst="roundRect">
            <a:avLst>
              <a:gd name="adj" fmla="val 25000"/>
            </a:avLst>
          </a:prstGeom>
          <a:solidFill>
            <a:schemeClr val="accent4">
              <a:alpha val="70000"/>
            </a:schemeClr>
          </a:solidFill>
          <a:ln/>
        </p:spPr>
      </p:sp>
      <p:sp>
        <p:nvSpPr>
          <p:cNvPr id="17" name="Note bar"/>
          <p:cNvSpPr/>
          <p:nvPr/>
        </p:nvSpPr>
        <p:spPr>
          <a:xfrm>
            <a:off x="7970109" y="1161288"/>
            <a:ext cx="551293" cy="146304"/>
          </a:xfrm>
          <a:prstGeom prst="roundRect">
            <a:avLst>
              <a:gd name="adj" fmla="val 25000"/>
            </a:avLst>
          </a:prstGeom>
          <a:solidFill>
            <a:schemeClr val="accent3">
              <a:alpha val="79000"/>
            </a:schemeClr>
          </a:solidFill>
          <a:ln/>
        </p:spPr>
      </p:sp>
      <p:sp>
        <p:nvSpPr>
          <p:cNvPr id="18" name="Note bar"/>
          <p:cNvSpPr/>
          <p:nvPr/>
        </p:nvSpPr>
        <p:spPr>
          <a:xfrm>
            <a:off x="5666316" y="1399032"/>
            <a:ext cx="570304" cy="146304"/>
          </a:xfrm>
          <a:prstGeom prst="roundRect">
            <a:avLst>
              <a:gd name="adj" fmla="val 25000"/>
            </a:avLst>
          </a:prstGeom>
          <a:solidFill>
            <a:schemeClr val="accent5">
              <a:alpha val="82000"/>
            </a:schemeClr>
          </a:solidFill>
          <a:ln/>
        </p:spPr>
      </p:sp>
      <p:sp>
        <p:nvSpPr>
          <p:cNvPr id="19" name="Note bar"/>
          <p:cNvSpPr/>
          <p:nvPr/>
        </p:nvSpPr>
        <p:spPr>
          <a:xfrm>
            <a:off x="6847946" y="1399032"/>
            <a:ext cx="662708" cy="146304"/>
          </a:xfrm>
          <a:prstGeom prst="roundRect">
            <a:avLst>
              <a:gd name="adj" fmla="val 25000"/>
            </a:avLst>
          </a:prstGeom>
          <a:solidFill>
            <a:schemeClr val="accent5">
              <a:alpha val="68000"/>
            </a:schemeClr>
          </a:solidFill>
          <a:ln/>
        </p:spPr>
      </p:sp>
      <p:sp>
        <p:nvSpPr>
          <p:cNvPr id="20" name="Note bar"/>
          <p:cNvSpPr/>
          <p:nvPr/>
        </p:nvSpPr>
        <p:spPr>
          <a:xfrm>
            <a:off x="7626030" y="1399032"/>
            <a:ext cx="337675" cy="146304"/>
          </a:xfrm>
          <a:prstGeom prst="roundRect">
            <a:avLst>
              <a:gd name="adj" fmla="val 25000"/>
            </a:avLst>
          </a:prstGeom>
          <a:solidFill>
            <a:schemeClr val="accent5">
              <a:alpha val="64000"/>
            </a:schemeClr>
          </a:solidFill>
          <a:ln/>
        </p:spPr>
      </p:sp>
      <p:sp>
        <p:nvSpPr>
          <p:cNvPr id="21" name="Note bar"/>
          <p:cNvSpPr/>
          <p:nvPr/>
        </p:nvSpPr>
        <p:spPr>
          <a:xfrm>
            <a:off x="8025570" y="1399032"/>
            <a:ext cx="661230" cy="146304"/>
          </a:xfrm>
          <a:prstGeom prst="roundRect">
            <a:avLst>
              <a:gd name="adj" fmla="val 25000"/>
            </a:avLst>
          </a:prstGeom>
          <a:solidFill>
            <a:schemeClr val="accent4">
              <a:alpha val="83000"/>
            </a:schemeClr>
          </a:solidFill>
          <a:ln/>
        </p:spPr>
      </p:sp>
      <p:sp>
        <p:nvSpPr>
          <p:cNvPr id="22" name="Note bar"/>
          <p:cNvSpPr/>
          <p:nvPr/>
        </p:nvSpPr>
        <p:spPr>
          <a:xfrm>
            <a:off x="5618149" y="1636776"/>
            <a:ext cx="289010" cy="146304"/>
          </a:xfrm>
          <a:prstGeom prst="roundRect">
            <a:avLst>
              <a:gd name="adj" fmla="val 25000"/>
            </a:avLst>
          </a:prstGeom>
          <a:solidFill>
            <a:schemeClr val="accent5">
              <a:alpha val="74000"/>
            </a:schemeClr>
          </a:solidFill>
          <a:ln/>
        </p:spPr>
      </p:sp>
      <p:sp>
        <p:nvSpPr>
          <p:cNvPr id="23" name="Note bar"/>
          <p:cNvSpPr/>
          <p:nvPr/>
        </p:nvSpPr>
        <p:spPr>
          <a:xfrm>
            <a:off x="6696576" y="1636776"/>
            <a:ext cx="327592" cy="146304"/>
          </a:xfrm>
          <a:prstGeom prst="roundRect">
            <a:avLst>
              <a:gd name="adj" fmla="val 25000"/>
            </a:avLst>
          </a:prstGeom>
          <a:solidFill>
            <a:schemeClr val="accent4">
              <a:alpha val="50000"/>
            </a:schemeClr>
          </a:solidFill>
          <a:ln/>
        </p:spPr>
      </p:sp>
      <p:sp>
        <p:nvSpPr>
          <p:cNvPr id="24" name="Note bar"/>
          <p:cNvSpPr/>
          <p:nvPr/>
        </p:nvSpPr>
        <p:spPr>
          <a:xfrm>
            <a:off x="8181055" y="1636776"/>
            <a:ext cx="476930" cy="146304"/>
          </a:xfrm>
          <a:prstGeom prst="roundRect">
            <a:avLst>
              <a:gd name="adj" fmla="val 25000"/>
            </a:avLst>
          </a:prstGeom>
          <a:solidFill>
            <a:schemeClr val="accent5">
              <a:alpha val="68000"/>
            </a:schemeClr>
          </a:solidFill>
          <a:ln/>
        </p:spPr>
      </p:sp>
      <p:sp>
        <p:nvSpPr>
          <p:cNvPr id="25" name="Note bar"/>
          <p:cNvSpPr/>
          <p:nvPr/>
        </p:nvSpPr>
        <p:spPr>
          <a:xfrm>
            <a:off x="5842448" y="1874520"/>
            <a:ext cx="482813" cy="146304"/>
          </a:xfrm>
          <a:prstGeom prst="roundRect">
            <a:avLst>
              <a:gd name="adj" fmla="val 25000"/>
            </a:avLst>
          </a:prstGeom>
          <a:solidFill>
            <a:schemeClr val="accent5">
              <a:alpha val="64000"/>
            </a:schemeClr>
          </a:solidFill>
          <a:ln/>
        </p:spPr>
      </p:sp>
      <p:sp>
        <p:nvSpPr>
          <p:cNvPr id="26" name="Note bar"/>
          <p:cNvSpPr/>
          <p:nvPr/>
        </p:nvSpPr>
        <p:spPr>
          <a:xfrm>
            <a:off x="7318797" y="1874520"/>
            <a:ext cx="753432" cy="146304"/>
          </a:xfrm>
          <a:prstGeom prst="roundRect">
            <a:avLst>
              <a:gd name="adj" fmla="val 25000"/>
            </a:avLst>
          </a:prstGeom>
          <a:solidFill>
            <a:schemeClr val="accent4">
              <a:alpha val="79000"/>
            </a:schemeClr>
          </a:solidFill>
          <a:ln/>
        </p:spPr>
      </p:sp>
      <p:sp>
        <p:nvSpPr>
          <p:cNvPr id="27" name="Note bar"/>
          <p:cNvSpPr/>
          <p:nvPr/>
        </p:nvSpPr>
        <p:spPr>
          <a:xfrm>
            <a:off x="5859225" y="2112264"/>
            <a:ext cx="298676" cy="146304"/>
          </a:xfrm>
          <a:prstGeom prst="roundRect">
            <a:avLst>
              <a:gd name="adj" fmla="val 25000"/>
            </a:avLst>
          </a:prstGeom>
          <a:solidFill>
            <a:schemeClr val="accent5">
              <a:alpha val="82000"/>
            </a:schemeClr>
          </a:solidFill>
          <a:ln/>
        </p:spPr>
      </p:sp>
      <p:sp>
        <p:nvSpPr>
          <p:cNvPr id="28" name="Note bar"/>
          <p:cNvSpPr/>
          <p:nvPr/>
        </p:nvSpPr>
        <p:spPr>
          <a:xfrm>
            <a:off x="6368555" y="2112264"/>
            <a:ext cx="577999" cy="146304"/>
          </a:xfrm>
          <a:prstGeom prst="roundRect">
            <a:avLst>
              <a:gd name="adj" fmla="val 25000"/>
            </a:avLst>
          </a:prstGeom>
          <a:solidFill>
            <a:schemeClr val="accent3">
              <a:alpha val="79000"/>
            </a:schemeClr>
          </a:solidFill>
          <a:ln/>
        </p:spPr>
      </p:sp>
      <p:sp>
        <p:nvSpPr>
          <p:cNvPr id="29" name="Note bar"/>
          <p:cNvSpPr/>
          <p:nvPr/>
        </p:nvSpPr>
        <p:spPr>
          <a:xfrm>
            <a:off x="7179141" y="2112264"/>
            <a:ext cx="218807" cy="146304"/>
          </a:xfrm>
          <a:prstGeom prst="roundRect">
            <a:avLst>
              <a:gd name="adj" fmla="val 25000"/>
            </a:avLst>
          </a:prstGeom>
          <a:solidFill>
            <a:schemeClr val="accent5">
              <a:alpha val="76000"/>
            </a:schemeClr>
          </a:solidFill>
          <a:ln/>
        </p:spPr>
      </p:sp>
      <p:sp>
        <p:nvSpPr>
          <p:cNvPr id="30" name="Note bar"/>
          <p:cNvSpPr/>
          <p:nvPr/>
        </p:nvSpPr>
        <p:spPr>
          <a:xfrm>
            <a:off x="7633870" y="2112264"/>
            <a:ext cx="213156" cy="146304"/>
          </a:xfrm>
          <a:prstGeom prst="roundRect">
            <a:avLst>
              <a:gd name="adj" fmla="val 25000"/>
            </a:avLst>
          </a:prstGeom>
          <a:solidFill>
            <a:schemeClr val="accent5">
              <a:alpha val="78000"/>
            </a:schemeClr>
          </a:solidFill>
          <a:ln/>
        </p:spPr>
      </p:sp>
      <p:sp>
        <p:nvSpPr>
          <p:cNvPr id="31" name="Note bar"/>
          <p:cNvSpPr/>
          <p:nvPr/>
        </p:nvSpPr>
        <p:spPr>
          <a:xfrm>
            <a:off x="8060605" y="2112264"/>
            <a:ext cx="461661" cy="146304"/>
          </a:xfrm>
          <a:prstGeom prst="roundRect">
            <a:avLst>
              <a:gd name="adj" fmla="val 25000"/>
            </a:avLst>
          </a:prstGeom>
          <a:solidFill>
            <a:schemeClr val="accent3">
              <a:alpha val="70000"/>
            </a:schemeClr>
          </a:solidFill>
          <a:ln/>
        </p:spPr>
      </p:sp>
      <p:sp>
        <p:nvSpPr>
          <p:cNvPr id="32" name="Note bar"/>
          <p:cNvSpPr/>
          <p:nvPr/>
        </p:nvSpPr>
        <p:spPr>
          <a:xfrm>
            <a:off x="5520385" y="2350008"/>
            <a:ext cx="538047" cy="146304"/>
          </a:xfrm>
          <a:prstGeom prst="roundRect">
            <a:avLst>
              <a:gd name="adj" fmla="val 25000"/>
            </a:avLst>
          </a:prstGeom>
          <a:solidFill>
            <a:schemeClr val="accent4">
              <a:alpha val="63000"/>
            </a:schemeClr>
          </a:solidFill>
          <a:ln/>
        </p:spPr>
      </p:sp>
      <p:sp>
        <p:nvSpPr>
          <p:cNvPr id="33" name="Note bar"/>
          <p:cNvSpPr/>
          <p:nvPr/>
        </p:nvSpPr>
        <p:spPr>
          <a:xfrm>
            <a:off x="7144625" y="2350008"/>
            <a:ext cx="463412" cy="146304"/>
          </a:xfrm>
          <a:prstGeom prst="roundRect">
            <a:avLst>
              <a:gd name="adj" fmla="val 25000"/>
            </a:avLst>
          </a:prstGeom>
          <a:solidFill>
            <a:schemeClr val="accent3">
              <a:alpha val="56000"/>
            </a:schemeClr>
          </a:solidFill>
          <a:ln/>
        </p:spPr>
      </p:sp>
      <p:sp>
        <p:nvSpPr>
          <p:cNvPr id="34" name="Note bar"/>
          <p:cNvSpPr/>
          <p:nvPr/>
        </p:nvSpPr>
        <p:spPr>
          <a:xfrm>
            <a:off x="5586507" y="2587752"/>
            <a:ext cx="180969" cy="146304"/>
          </a:xfrm>
          <a:prstGeom prst="roundRect">
            <a:avLst>
              <a:gd name="adj" fmla="val 25000"/>
            </a:avLst>
          </a:prstGeom>
          <a:solidFill>
            <a:schemeClr val="accent5">
              <a:alpha val="64000"/>
            </a:schemeClr>
          </a:solidFill>
          <a:ln/>
        </p:spPr>
      </p:sp>
      <p:sp>
        <p:nvSpPr>
          <p:cNvPr id="35" name="Note bar"/>
          <p:cNvSpPr/>
          <p:nvPr/>
        </p:nvSpPr>
        <p:spPr>
          <a:xfrm>
            <a:off x="5816694" y="2587752"/>
            <a:ext cx="416112" cy="146304"/>
          </a:xfrm>
          <a:prstGeom prst="roundRect">
            <a:avLst>
              <a:gd name="adj" fmla="val 25000"/>
            </a:avLst>
          </a:prstGeom>
          <a:solidFill>
            <a:schemeClr val="accent4">
              <a:alpha val="82000"/>
            </a:schemeClr>
          </a:solidFill>
          <a:ln/>
        </p:spPr>
      </p:sp>
      <p:sp>
        <p:nvSpPr>
          <p:cNvPr id="36" name="Note bar"/>
          <p:cNvSpPr/>
          <p:nvPr/>
        </p:nvSpPr>
        <p:spPr>
          <a:xfrm>
            <a:off x="6338945" y="2587752"/>
            <a:ext cx="247077" cy="146304"/>
          </a:xfrm>
          <a:prstGeom prst="roundRect">
            <a:avLst>
              <a:gd name="adj" fmla="val 25000"/>
            </a:avLst>
          </a:prstGeom>
          <a:solidFill>
            <a:schemeClr val="accent4">
              <a:alpha val="76000"/>
            </a:schemeClr>
          </a:solidFill>
          <a:ln/>
        </p:spPr>
      </p:sp>
      <p:sp>
        <p:nvSpPr>
          <p:cNvPr id="37" name="Note bar"/>
          <p:cNvSpPr/>
          <p:nvPr/>
        </p:nvSpPr>
        <p:spPr>
          <a:xfrm>
            <a:off x="6812234" y="2587752"/>
            <a:ext cx="221865" cy="146304"/>
          </a:xfrm>
          <a:prstGeom prst="roundRect">
            <a:avLst>
              <a:gd name="adj" fmla="val 25000"/>
            </a:avLst>
          </a:prstGeom>
          <a:solidFill>
            <a:schemeClr val="accent4">
              <a:alpha val="46000"/>
            </a:schemeClr>
          </a:solidFill>
          <a:ln/>
        </p:spPr>
      </p:sp>
      <p:sp>
        <p:nvSpPr>
          <p:cNvPr id="38" name="Note bar"/>
          <p:cNvSpPr/>
          <p:nvPr/>
        </p:nvSpPr>
        <p:spPr>
          <a:xfrm>
            <a:off x="7667704" y="2587752"/>
            <a:ext cx="437098" cy="146304"/>
          </a:xfrm>
          <a:prstGeom prst="roundRect">
            <a:avLst>
              <a:gd name="adj" fmla="val 25000"/>
            </a:avLst>
          </a:prstGeom>
          <a:solidFill>
            <a:schemeClr val="accent4">
              <a:alpha val="88000"/>
            </a:schemeClr>
          </a:solidFill>
          <a:ln/>
        </p:spPr>
      </p:sp>
      <p:sp>
        <p:nvSpPr>
          <p:cNvPr id="39" name="Note bar"/>
          <p:cNvSpPr/>
          <p:nvPr/>
        </p:nvSpPr>
        <p:spPr>
          <a:xfrm>
            <a:off x="8150648" y="2587752"/>
            <a:ext cx="219650" cy="146304"/>
          </a:xfrm>
          <a:prstGeom prst="roundRect">
            <a:avLst>
              <a:gd name="adj" fmla="val 25000"/>
            </a:avLst>
          </a:prstGeom>
          <a:solidFill>
            <a:schemeClr val="accent4">
              <a:alpha val="46000"/>
            </a:schemeClr>
          </a:solidFill>
          <a:ln/>
        </p:spPr>
      </p:sp>
      <p:sp>
        <p:nvSpPr>
          <p:cNvPr id="40" name="Note bar"/>
          <p:cNvSpPr/>
          <p:nvPr/>
        </p:nvSpPr>
        <p:spPr>
          <a:xfrm>
            <a:off x="6013052" y="2825496"/>
            <a:ext cx="489172" cy="146304"/>
          </a:xfrm>
          <a:prstGeom prst="roundRect">
            <a:avLst>
              <a:gd name="adj" fmla="val 25000"/>
            </a:avLst>
          </a:prstGeom>
          <a:solidFill>
            <a:schemeClr val="accent5">
              <a:alpha val="64000"/>
            </a:schemeClr>
          </a:solidFill>
          <a:ln/>
        </p:spPr>
      </p:sp>
      <p:sp>
        <p:nvSpPr>
          <p:cNvPr id="41" name="Note bar"/>
          <p:cNvSpPr/>
          <p:nvPr/>
        </p:nvSpPr>
        <p:spPr>
          <a:xfrm>
            <a:off x="6591229" y="2825496"/>
            <a:ext cx="331187" cy="146304"/>
          </a:xfrm>
          <a:prstGeom prst="roundRect">
            <a:avLst>
              <a:gd name="adj" fmla="val 25000"/>
            </a:avLst>
          </a:prstGeom>
          <a:solidFill>
            <a:schemeClr val="accent5">
              <a:alpha val="68000"/>
            </a:schemeClr>
          </a:solidFill>
          <a:ln/>
        </p:spPr>
      </p:sp>
      <p:sp>
        <p:nvSpPr>
          <p:cNvPr id="42" name="Note bar"/>
          <p:cNvSpPr/>
          <p:nvPr/>
        </p:nvSpPr>
        <p:spPr>
          <a:xfrm>
            <a:off x="6992005" y="2825496"/>
            <a:ext cx="634977" cy="146304"/>
          </a:xfrm>
          <a:prstGeom prst="roundRect">
            <a:avLst>
              <a:gd name="adj" fmla="val 25000"/>
            </a:avLst>
          </a:prstGeom>
          <a:solidFill>
            <a:schemeClr val="accent4">
              <a:alpha val="85000"/>
            </a:schemeClr>
          </a:solidFill>
          <a:ln/>
        </p:spPr>
      </p:sp>
      <p:sp>
        <p:nvSpPr>
          <p:cNvPr id="43" name="Note bar"/>
          <p:cNvSpPr/>
          <p:nvPr/>
        </p:nvSpPr>
        <p:spPr>
          <a:xfrm>
            <a:off x="8269004" y="2825496"/>
            <a:ext cx="417796" cy="146304"/>
          </a:xfrm>
          <a:prstGeom prst="roundRect">
            <a:avLst>
              <a:gd name="adj" fmla="val 25000"/>
            </a:avLst>
          </a:prstGeom>
          <a:solidFill>
            <a:schemeClr val="accent4">
              <a:alpha val="52000"/>
            </a:schemeClr>
          </a:solidFill>
          <a:ln/>
        </p:spPr>
      </p:sp>
      <p:sp>
        <p:nvSpPr>
          <p:cNvPr id="44" name="Note bar"/>
          <p:cNvSpPr/>
          <p:nvPr/>
        </p:nvSpPr>
        <p:spPr>
          <a:xfrm>
            <a:off x="5546256" y="3063240"/>
            <a:ext cx="578954" cy="146304"/>
          </a:xfrm>
          <a:prstGeom prst="roundRect">
            <a:avLst>
              <a:gd name="adj" fmla="val 25000"/>
            </a:avLst>
          </a:prstGeom>
          <a:solidFill>
            <a:schemeClr val="accent4">
              <a:alpha val="56000"/>
            </a:schemeClr>
          </a:solidFill>
          <a:ln/>
        </p:spPr>
      </p:sp>
      <p:sp>
        <p:nvSpPr>
          <p:cNvPr id="45" name="Note bar"/>
          <p:cNvSpPr/>
          <p:nvPr/>
        </p:nvSpPr>
        <p:spPr>
          <a:xfrm>
            <a:off x="6441620" y="3063240"/>
            <a:ext cx="562549" cy="146304"/>
          </a:xfrm>
          <a:prstGeom prst="roundRect">
            <a:avLst>
              <a:gd name="adj" fmla="val 25000"/>
            </a:avLst>
          </a:prstGeom>
          <a:solidFill>
            <a:schemeClr val="accent3">
              <a:alpha val="76000"/>
            </a:schemeClr>
          </a:solidFill>
          <a:ln/>
        </p:spPr>
      </p:sp>
      <p:sp>
        <p:nvSpPr>
          <p:cNvPr id="46" name="Note bar"/>
          <p:cNvSpPr/>
          <p:nvPr/>
        </p:nvSpPr>
        <p:spPr>
          <a:xfrm>
            <a:off x="7301516" y="3063240"/>
            <a:ext cx="479482" cy="146304"/>
          </a:xfrm>
          <a:prstGeom prst="roundRect">
            <a:avLst>
              <a:gd name="adj" fmla="val 25000"/>
            </a:avLst>
          </a:prstGeom>
          <a:solidFill>
            <a:schemeClr val="accent3">
              <a:alpha val="48000"/>
            </a:schemeClr>
          </a:solidFill>
          <a:ln/>
        </p:spPr>
      </p:sp>
      <p:sp>
        <p:nvSpPr>
          <p:cNvPr id="47" name="Note bar"/>
          <p:cNvSpPr/>
          <p:nvPr/>
        </p:nvSpPr>
        <p:spPr>
          <a:xfrm>
            <a:off x="6383695" y="3300984"/>
            <a:ext cx="145507" cy="146304"/>
          </a:xfrm>
          <a:prstGeom prst="roundRect">
            <a:avLst>
              <a:gd name="adj" fmla="val 25137"/>
            </a:avLst>
          </a:prstGeom>
          <a:solidFill>
            <a:schemeClr val="accent3">
              <a:alpha val="89000"/>
            </a:schemeClr>
          </a:solidFill>
          <a:ln/>
        </p:spPr>
      </p:sp>
      <p:sp>
        <p:nvSpPr>
          <p:cNvPr id="48" name="Note bar"/>
          <p:cNvSpPr/>
          <p:nvPr/>
        </p:nvSpPr>
        <p:spPr>
          <a:xfrm>
            <a:off x="6695162" y="3300984"/>
            <a:ext cx="209220" cy="146304"/>
          </a:xfrm>
          <a:prstGeom prst="roundRect">
            <a:avLst>
              <a:gd name="adj" fmla="val 25000"/>
            </a:avLst>
          </a:prstGeom>
          <a:solidFill>
            <a:schemeClr val="accent4">
              <a:alpha val="75000"/>
            </a:schemeClr>
          </a:solidFill>
          <a:ln/>
        </p:spPr>
      </p:sp>
      <p:sp>
        <p:nvSpPr>
          <p:cNvPr id="49" name="Note bar"/>
          <p:cNvSpPr/>
          <p:nvPr/>
        </p:nvSpPr>
        <p:spPr>
          <a:xfrm>
            <a:off x="7007889" y="3300984"/>
            <a:ext cx="427419" cy="146304"/>
          </a:xfrm>
          <a:prstGeom prst="roundRect">
            <a:avLst>
              <a:gd name="adj" fmla="val 25000"/>
            </a:avLst>
          </a:prstGeom>
          <a:solidFill>
            <a:schemeClr val="accent5">
              <a:alpha val="49000"/>
            </a:schemeClr>
          </a:solidFill>
          <a:ln/>
        </p:spPr>
      </p:sp>
      <p:sp>
        <p:nvSpPr>
          <p:cNvPr id="50" name="Note bar"/>
          <p:cNvSpPr/>
          <p:nvPr/>
        </p:nvSpPr>
        <p:spPr>
          <a:xfrm>
            <a:off x="7580501" y="3300984"/>
            <a:ext cx="699979" cy="146304"/>
          </a:xfrm>
          <a:prstGeom prst="roundRect">
            <a:avLst>
              <a:gd name="adj" fmla="val 25000"/>
            </a:avLst>
          </a:prstGeom>
          <a:solidFill>
            <a:schemeClr val="accent4">
              <a:alpha val="85000"/>
            </a:schemeClr>
          </a:solidFill>
          <a:ln/>
        </p:spPr>
      </p:sp>
      <p:sp>
        <p:nvSpPr>
          <p:cNvPr id="51" name="Note bar"/>
          <p:cNvSpPr/>
          <p:nvPr/>
        </p:nvSpPr>
        <p:spPr>
          <a:xfrm>
            <a:off x="6360304" y="3538728"/>
            <a:ext cx="501466" cy="146304"/>
          </a:xfrm>
          <a:prstGeom prst="roundRect">
            <a:avLst>
              <a:gd name="adj" fmla="val 25000"/>
            </a:avLst>
          </a:prstGeom>
          <a:solidFill>
            <a:schemeClr val="accent4">
              <a:alpha val="64000"/>
            </a:schemeClr>
          </a:solidFill>
          <a:ln/>
        </p:spPr>
      </p:sp>
      <p:sp>
        <p:nvSpPr>
          <p:cNvPr id="52" name="Note bar"/>
          <p:cNvSpPr/>
          <p:nvPr/>
        </p:nvSpPr>
        <p:spPr>
          <a:xfrm>
            <a:off x="7156702" y="3538728"/>
            <a:ext cx="776237" cy="146304"/>
          </a:xfrm>
          <a:prstGeom prst="roundRect">
            <a:avLst>
              <a:gd name="adj" fmla="val 25000"/>
            </a:avLst>
          </a:prstGeom>
          <a:solidFill>
            <a:schemeClr val="accent4">
              <a:alpha val="57000"/>
            </a:schemeClr>
          </a:solidFill>
          <a:ln/>
        </p:spPr>
      </p:sp>
      <p:sp>
        <p:nvSpPr>
          <p:cNvPr id="53" name="Note bar"/>
          <p:cNvSpPr/>
          <p:nvPr/>
        </p:nvSpPr>
        <p:spPr>
          <a:xfrm>
            <a:off x="8002726" y="3538728"/>
            <a:ext cx="241193" cy="146304"/>
          </a:xfrm>
          <a:prstGeom prst="roundRect">
            <a:avLst>
              <a:gd name="adj" fmla="val 25000"/>
            </a:avLst>
          </a:prstGeom>
          <a:solidFill>
            <a:schemeClr val="accent3">
              <a:alpha val="61000"/>
            </a:schemeClr>
          </a:solidFill>
          <a:ln/>
        </p:spPr>
      </p:sp>
      <p:sp>
        <p:nvSpPr>
          <p:cNvPr id="54" name="Note bar"/>
          <p:cNvSpPr/>
          <p:nvPr/>
        </p:nvSpPr>
        <p:spPr>
          <a:xfrm>
            <a:off x="8295191" y="3538728"/>
            <a:ext cx="268682" cy="146304"/>
          </a:xfrm>
          <a:prstGeom prst="roundRect">
            <a:avLst>
              <a:gd name="adj" fmla="val 25000"/>
            </a:avLst>
          </a:prstGeom>
          <a:solidFill>
            <a:schemeClr val="accent5">
              <a:alpha val="58000"/>
            </a:schemeClr>
          </a:solidFill>
          <a:ln/>
        </p:spPr>
      </p:sp>
      <p:sp>
        <p:nvSpPr>
          <p:cNvPr id="55" name="Note bar"/>
          <p:cNvSpPr/>
          <p:nvPr/>
        </p:nvSpPr>
        <p:spPr>
          <a:xfrm>
            <a:off x="6067984" y="3776472"/>
            <a:ext cx="610278" cy="146304"/>
          </a:xfrm>
          <a:prstGeom prst="roundRect">
            <a:avLst>
              <a:gd name="adj" fmla="val 25000"/>
            </a:avLst>
          </a:prstGeom>
          <a:solidFill>
            <a:schemeClr val="accent5">
              <a:alpha val="80000"/>
            </a:schemeClr>
          </a:solidFill>
          <a:ln/>
        </p:spPr>
      </p:sp>
      <p:sp>
        <p:nvSpPr>
          <p:cNvPr id="56" name="Note bar"/>
          <p:cNvSpPr/>
          <p:nvPr/>
        </p:nvSpPr>
        <p:spPr>
          <a:xfrm>
            <a:off x="6803951" y="3776472"/>
            <a:ext cx="146219" cy="146304"/>
          </a:xfrm>
          <a:prstGeom prst="roundRect">
            <a:avLst>
              <a:gd name="adj" fmla="val 25015"/>
            </a:avLst>
          </a:prstGeom>
          <a:solidFill>
            <a:schemeClr val="accent3">
              <a:alpha val="86000"/>
            </a:schemeClr>
          </a:solidFill>
          <a:ln/>
        </p:spPr>
      </p:sp>
      <p:sp>
        <p:nvSpPr>
          <p:cNvPr id="57" name="Note bar"/>
          <p:cNvSpPr/>
          <p:nvPr/>
        </p:nvSpPr>
        <p:spPr>
          <a:xfrm>
            <a:off x="7103792" y="3776472"/>
            <a:ext cx="365830" cy="146304"/>
          </a:xfrm>
          <a:prstGeom prst="roundRect">
            <a:avLst>
              <a:gd name="adj" fmla="val 25000"/>
            </a:avLst>
          </a:prstGeom>
          <a:solidFill>
            <a:schemeClr val="accent3">
              <a:alpha val="85000"/>
            </a:schemeClr>
          </a:solidFill>
          <a:ln/>
        </p:spPr>
      </p:sp>
      <p:sp>
        <p:nvSpPr>
          <p:cNvPr id="58" name="Note bar"/>
          <p:cNvSpPr/>
          <p:nvPr/>
        </p:nvSpPr>
        <p:spPr>
          <a:xfrm>
            <a:off x="7572276" y="3776472"/>
            <a:ext cx="213026" cy="146304"/>
          </a:xfrm>
          <a:prstGeom prst="roundRect">
            <a:avLst>
              <a:gd name="adj" fmla="val 25000"/>
            </a:avLst>
          </a:prstGeom>
          <a:solidFill>
            <a:schemeClr val="accent5">
              <a:alpha val="68000"/>
            </a:schemeClr>
          </a:solidFill>
          <a:ln/>
        </p:spPr>
      </p:sp>
      <p:sp>
        <p:nvSpPr>
          <p:cNvPr id="59" name="Note bar"/>
          <p:cNvSpPr/>
          <p:nvPr/>
        </p:nvSpPr>
        <p:spPr>
          <a:xfrm>
            <a:off x="8100292" y="3776472"/>
            <a:ext cx="306819" cy="146304"/>
          </a:xfrm>
          <a:prstGeom prst="roundRect">
            <a:avLst>
              <a:gd name="adj" fmla="val 25000"/>
            </a:avLst>
          </a:prstGeom>
          <a:solidFill>
            <a:schemeClr val="accent3">
              <a:alpha val="47000"/>
            </a:schemeClr>
          </a:solidFill>
          <a:ln/>
        </p:spPr>
      </p:sp>
      <p:sp>
        <p:nvSpPr>
          <p:cNvPr id="60" name="Note bar"/>
          <p:cNvSpPr/>
          <p:nvPr/>
        </p:nvSpPr>
        <p:spPr>
          <a:xfrm>
            <a:off x="5799723" y="4014216"/>
            <a:ext cx="536318" cy="146304"/>
          </a:xfrm>
          <a:prstGeom prst="roundRect">
            <a:avLst>
              <a:gd name="adj" fmla="val 25000"/>
            </a:avLst>
          </a:prstGeom>
          <a:solidFill>
            <a:schemeClr val="accent5">
              <a:alpha val="66000"/>
            </a:schemeClr>
          </a:solidFill>
          <a:ln/>
        </p:spPr>
      </p:sp>
      <p:sp>
        <p:nvSpPr>
          <p:cNvPr id="61" name="Note bar"/>
          <p:cNvSpPr/>
          <p:nvPr/>
        </p:nvSpPr>
        <p:spPr>
          <a:xfrm>
            <a:off x="7210934" y="4014216"/>
            <a:ext cx="820389" cy="146304"/>
          </a:xfrm>
          <a:prstGeom prst="roundRect">
            <a:avLst>
              <a:gd name="adj" fmla="val 25000"/>
            </a:avLst>
          </a:prstGeom>
          <a:solidFill>
            <a:schemeClr val="accent3">
              <a:alpha val="61000"/>
            </a:scheme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Part tag"/>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200" kern="0" dirty="0">
                <a:solidFill>
                  <a:schemeClr val="tx2"/>
                </a:solidFill>
              </a:rPr>
              <a:t>PROJECT OVERVIEW</a:t>
            </a:r>
            <a:endParaRPr lang="en-US" sz="1100" dirty="0"/>
          </a:p>
        </p:txBody>
      </p:sp>
      <p:sp>
        <p:nvSpPr>
          <p:cNvPr id="3" name="Text 0"/>
          <p:cNvSpPr/>
          <p:nvPr>
            <p:ph idx="100" type="title" hasCustomPrompt="1"/>
          </p:nvPr>
        </p:nvSpPr>
        <p:spPr>
          <a:xfrm>
            <a:off x="457200" y="5029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245 pieces, 11 composers</a:t>
            </a:r>
            <a:endParaRPr lang="en-US" sz="3200" dirty="0"/>
          </a:p>
        </p:txBody>
      </p:sp>
      <p:sp>
        <p:nvSpPr>
          <p:cNvPr id="4" name="Stat 245"/>
          <p:cNvSpPr txBox="1"/>
          <p:nvPr/>
        </p:nvSpPr>
        <p:spPr>
          <a:xfrm>
            <a:off x="457200" y="1325880"/>
            <a:ext cx="3108960" cy="68580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245</a:t>
            </a:r>
            <a:endParaRPr lang="en-US" sz="4000" dirty="0"/>
          </a:p>
        </p:txBody>
      </p:sp>
      <p:sp>
        <p:nvSpPr>
          <p:cNvPr id="5" name="Stat label 245"/>
          <p:cNvSpPr txBox="1"/>
          <p:nvPr/>
        </p:nvSpPr>
        <p:spPr>
          <a:xfrm>
            <a:off x="457200" y="2039112"/>
            <a:ext cx="3108960" cy="457200"/>
          </a:xfrm>
          <a:prstGeom prst="rect">
            <a:avLst/>
          </a:prstGeom>
          <a:noFill/>
          <a:ln/>
        </p:spPr>
        <p:txBody>
          <a:bodyPr wrap="square" lIns="0" tIns="0" rIns="0" bIns="0" rtlCol="0" anchor="t"/>
          <a:lstStyle/>
          <a:p>
            <a:pPr indent="0" marL="0">
              <a:buNone/>
            </a:pPr>
            <a:r>
              <a:rPr lang="en-US" sz="1400" dirty="0">
                <a:solidFill>
                  <a:schemeClr val="tx1"/>
                </a:solidFill>
              </a:rPr>
              <a:t>MIDI files, all verified to parse and non-duplicate</a:t>
            </a:r>
            <a:endParaRPr lang="en-US" sz="1400" dirty="0"/>
          </a:p>
        </p:txBody>
      </p:sp>
      <p:sp>
        <p:nvSpPr>
          <p:cNvPr id="6" name="Stat 11"/>
          <p:cNvSpPr txBox="1"/>
          <p:nvPr/>
        </p:nvSpPr>
        <p:spPr>
          <a:xfrm>
            <a:off x="457200" y="2514600"/>
            <a:ext cx="3108960" cy="68580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11</a:t>
            </a:r>
            <a:endParaRPr lang="en-US" sz="4000" dirty="0"/>
          </a:p>
        </p:txBody>
      </p:sp>
      <p:sp>
        <p:nvSpPr>
          <p:cNvPr id="7" name="Stat label 11"/>
          <p:cNvSpPr txBox="1"/>
          <p:nvPr/>
        </p:nvSpPr>
        <p:spPr>
          <a:xfrm>
            <a:off x="457200" y="3227832"/>
            <a:ext cx="3108960" cy="457200"/>
          </a:xfrm>
          <a:prstGeom prst="rect">
            <a:avLst/>
          </a:prstGeom>
          <a:noFill/>
          <a:ln/>
        </p:spPr>
        <p:txBody>
          <a:bodyPr wrap="square" lIns="0" tIns="0" rIns="0" bIns="0" rtlCol="0" anchor="t"/>
          <a:lstStyle/>
          <a:p>
            <a:pPr indent="0" marL="0">
              <a:buNone/>
            </a:pPr>
            <a:r>
              <a:rPr lang="en-US" sz="1400" dirty="0">
                <a:solidFill>
                  <a:schemeClr val="tx1"/>
                </a:solidFill>
              </a:rPr>
              <a:t>composers, Haydn to Tchaikovsky</a:t>
            </a:r>
            <a:endParaRPr lang="en-US" sz="1400" dirty="0"/>
          </a:p>
        </p:txBody>
      </p:sp>
      <p:sp>
        <p:nvSpPr>
          <p:cNvPr id="8" name="Stat 12 – 48"/>
          <p:cNvSpPr txBox="1"/>
          <p:nvPr/>
        </p:nvSpPr>
        <p:spPr>
          <a:xfrm>
            <a:off x="457200" y="3703320"/>
            <a:ext cx="3108960" cy="685800"/>
          </a:xfrm>
          <a:prstGeom prst="rect">
            <a:avLst/>
          </a:prstGeom>
          <a:noFill/>
          <a:ln/>
        </p:spPr>
        <p:txBody>
          <a:bodyPr wrap="square" lIns="0" tIns="0" rIns="0" bIns="0" rtlCol="0" anchor="b"/>
          <a:lstStyle/>
          <a:p>
            <a:pPr indent="0" marL="0">
              <a:buNone/>
            </a:pPr>
            <a:r>
              <a:rPr lang="en-US" sz="3600" b="1" dirty="0">
                <a:solidFill>
                  <a:schemeClr val="accent1"/>
                </a:solidFill>
                <a:latin typeface="Cambria" pitchFamily="34" charset="0"/>
                <a:ea typeface="Cambria" pitchFamily="34" charset="-122"/>
                <a:cs typeface="Cambria" pitchFamily="34" charset="-120"/>
              </a:rPr>
              <a:t>12 – 48</a:t>
            </a:r>
            <a:endParaRPr lang="en-US" sz="3600" dirty="0"/>
          </a:p>
        </p:txBody>
      </p:sp>
      <p:sp>
        <p:nvSpPr>
          <p:cNvPr id="9" name="Stat label 12 – 48"/>
          <p:cNvSpPr txBox="1"/>
          <p:nvPr/>
        </p:nvSpPr>
        <p:spPr>
          <a:xfrm>
            <a:off x="457200" y="4416552"/>
            <a:ext cx="3108960" cy="457200"/>
          </a:xfrm>
          <a:prstGeom prst="rect">
            <a:avLst/>
          </a:prstGeom>
          <a:noFill/>
          <a:ln/>
        </p:spPr>
        <p:txBody>
          <a:bodyPr wrap="square" lIns="0" tIns="0" rIns="0" bIns="0" rtlCol="0" anchor="t"/>
          <a:lstStyle/>
          <a:p>
            <a:pPr indent="0" marL="0">
              <a:buNone/>
            </a:pPr>
            <a:r>
              <a:rPr lang="en-US" sz="1400" dirty="0">
                <a:solidFill>
                  <a:schemeClr val="tx1"/>
                </a:solidFill>
              </a:rPr>
              <a:t>pieces per composer: heavily imbalanced</a:t>
            </a:r>
            <a:endParaRPr lang="en-US" sz="1400" dirty="0"/>
          </a:p>
        </p:txBody>
      </p:sp>
      <p:graphicFrame>
        <p:nvGraphicFramePr>
          <p:cNvPr id="10" name="Chart 0" descr=""/>
          <p:cNvGraphicFramePr/>
          <p:nvPr/>
        </p:nvGraphicFramePr>
        <p:xfrm>
          <a:off x="4023360" y="1234440"/>
          <a:ext cx="4663440" cy="3429000"/>
        </p:xfrm>
        <a:graphic xmlns:a="http://schemas.openxmlformats.org/drawingml/2006/main">
          <a:graphicData uri="http://schemas.openxmlformats.org/drawingml/2006/chart">
            <c:chart xmlns:c="http://schemas.openxmlformats.org/drawingml/2006/chart" r:id="rId1"/>
          </a:graphicData>
        </a:graphic>
      </p:graphicFrame>
      <p:sp>
        <p:nvSpPr>
          <p:cNvPr id="11" name="Source"/>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1000" dirty="0">
                <a:solidFill>
                  <a:schemeClr val="tx2"/>
                </a:solidFill>
              </a:rPr>
              <a:t>Data: Classical Music MIDI dataset (S. Rakshit, Kaggle)</a:t>
            </a:r>
            <a:endParaRPr lang="en-US" sz="10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4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Part tag"/>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200" kern="0" dirty="0">
                <a:solidFill>
                  <a:schemeClr val="tx2"/>
                </a:solidFill>
              </a:rPr>
              <a:t>PROJECT OVERVIEW</a:t>
            </a:r>
            <a:endParaRPr lang="en-US" sz="1100" dirty="0"/>
          </a:p>
        </p:txBody>
      </p:sp>
      <p:sp>
        <p:nvSpPr>
          <p:cNvPr id="3" name="Text 0"/>
          <p:cNvSpPr/>
          <p:nvPr>
            <p:ph idx="100" type="title" hasCustomPrompt="1"/>
          </p:nvPr>
        </p:nvSpPr>
        <p:spPr>
          <a:xfrm>
            <a:off x="457200" y="5029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Each piece becomes 78 numbers</a:t>
            </a:r>
            <a:endParaRPr lang="en-US" sz="3200" dirty="0"/>
          </a:p>
        </p:txBody>
      </p:sp>
      <p:sp>
        <p:nvSpPr>
          <p:cNvPr id="4" name="Card General"/>
          <p:cNvSpPr/>
          <p:nvPr/>
        </p:nvSpPr>
        <p:spPr>
          <a:xfrm>
            <a:off x="457200" y="1280160"/>
            <a:ext cx="2587752" cy="1508760"/>
          </a:xfrm>
          <a:prstGeom prst="roundRect">
            <a:avLst>
              <a:gd name="adj" fmla="val 7273"/>
            </a:avLst>
          </a:prstGeom>
          <a:solidFill>
            <a:schemeClr val="bg2"/>
          </a:solidFill>
          <a:ln/>
        </p:spPr>
      </p:sp>
      <p:sp>
        <p:nvSpPr>
          <p:cNvPr id="5" name="Count General"/>
          <p:cNvSpPr txBox="1"/>
          <p:nvPr/>
        </p:nvSpPr>
        <p:spPr>
          <a:xfrm>
            <a:off x="640080" y="1371600"/>
            <a:ext cx="2221992"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8</a:t>
            </a:r>
            <a:endParaRPr lang="en-US" sz="3200" dirty="0"/>
          </a:p>
        </p:txBody>
      </p:sp>
      <p:sp>
        <p:nvSpPr>
          <p:cNvPr id="6" name="Name General"/>
          <p:cNvSpPr txBox="1"/>
          <p:nvPr/>
        </p:nvSpPr>
        <p:spPr>
          <a:xfrm>
            <a:off x="640080" y="1920240"/>
            <a:ext cx="2221992" cy="274320"/>
          </a:xfrm>
          <a:prstGeom prst="rect">
            <a:avLst/>
          </a:prstGeom>
          <a:noFill/>
          <a:ln/>
        </p:spPr>
        <p:txBody>
          <a:bodyPr wrap="square" lIns="0" tIns="0" rIns="0" bIns="0" rtlCol="0" anchor="ctr"/>
          <a:lstStyle/>
          <a:p>
            <a:pPr indent="0" marL="0">
              <a:buNone/>
            </a:pPr>
            <a:r>
              <a:rPr lang="en-US" sz="1400" b="1" dirty="0">
                <a:solidFill>
                  <a:schemeClr val="tx1"/>
                </a:solidFill>
              </a:rPr>
              <a:t>General</a:t>
            </a:r>
            <a:endParaRPr lang="en-US" sz="1400" dirty="0"/>
          </a:p>
        </p:txBody>
      </p:sp>
      <p:sp>
        <p:nvSpPr>
          <p:cNvPr id="7" name="Desc General"/>
          <p:cNvSpPr txBox="1"/>
          <p:nvPr/>
        </p:nvSpPr>
        <p:spPr>
          <a:xfrm>
            <a:off x="640080" y="2194560"/>
            <a:ext cx="2221992" cy="502920"/>
          </a:xfrm>
          <a:prstGeom prst="rect">
            <a:avLst/>
          </a:prstGeom>
          <a:noFill/>
          <a:ln/>
        </p:spPr>
        <p:txBody>
          <a:bodyPr wrap="square" lIns="0" tIns="0" rIns="0" bIns="0" rtlCol="0" anchor="t"/>
          <a:lstStyle/>
          <a:p>
            <a:pPr indent="0" marL="0">
              <a:buNone/>
            </a:pPr>
            <a:r>
              <a:rPr lang="en-US" sz="1400" dirty="0">
                <a:solidFill>
                  <a:schemeClr val="tx2"/>
                </a:solidFill>
              </a:rPr>
              <a:t>Mean/std of pitch, duration, interval; note density</a:t>
            </a:r>
            <a:endParaRPr lang="en-US" sz="1400" dirty="0"/>
          </a:p>
        </p:txBody>
      </p:sp>
      <p:sp>
        <p:nvSpPr>
          <p:cNvPr id="8" name="Card Pitch &amp; duration"/>
          <p:cNvSpPr/>
          <p:nvPr/>
        </p:nvSpPr>
        <p:spPr>
          <a:xfrm>
            <a:off x="3273552" y="1280160"/>
            <a:ext cx="2587752" cy="1508760"/>
          </a:xfrm>
          <a:prstGeom prst="roundRect">
            <a:avLst>
              <a:gd name="adj" fmla="val 7273"/>
            </a:avLst>
          </a:prstGeom>
          <a:solidFill>
            <a:schemeClr val="bg2"/>
          </a:solidFill>
          <a:ln/>
        </p:spPr>
      </p:sp>
      <p:sp>
        <p:nvSpPr>
          <p:cNvPr id="9" name="Count Pitch &amp;amp; duration"/>
          <p:cNvSpPr txBox="1"/>
          <p:nvPr/>
        </p:nvSpPr>
        <p:spPr>
          <a:xfrm>
            <a:off x="3456432" y="1371600"/>
            <a:ext cx="2221992"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5</a:t>
            </a:r>
            <a:endParaRPr lang="en-US" sz="3200" dirty="0"/>
          </a:p>
        </p:txBody>
      </p:sp>
      <p:sp>
        <p:nvSpPr>
          <p:cNvPr id="10" name="Name Pitch &amp;amp; duration"/>
          <p:cNvSpPr txBox="1"/>
          <p:nvPr/>
        </p:nvSpPr>
        <p:spPr>
          <a:xfrm>
            <a:off x="3456432" y="1920240"/>
            <a:ext cx="2221992" cy="274320"/>
          </a:xfrm>
          <a:prstGeom prst="rect">
            <a:avLst/>
          </a:prstGeom>
          <a:noFill/>
          <a:ln/>
        </p:spPr>
        <p:txBody>
          <a:bodyPr wrap="square" lIns="0" tIns="0" rIns="0" bIns="0" rtlCol="0" anchor="ctr"/>
          <a:lstStyle/>
          <a:p>
            <a:pPr indent="0" marL="0">
              <a:buNone/>
            </a:pPr>
            <a:r>
              <a:rPr lang="en-US" sz="1400" b="1" dirty="0">
                <a:solidFill>
                  <a:schemeClr val="tx1"/>
                </a:solidFill>
              </a:rPr>
              <a:t>Pitch &amp; duration</a:t>
            </a:r>
            <a:endParaRPr lang="en-US" sz="1400" dirty="0"/>
          </a:p>
        </p:txBody>
      </p:sp>
      <p:sp>
        <p:nvSpPr>
          <p:cNvPr id="11" name="Desc Pitch &amp;amp; duration"/>
          <p:cNvSpPr txBox="1"/>
          <p:nvPr/>
        </p:nvSpPr>
        <p:spPr>
          <a:xfrm>
            <a:off x="3456432" y="2194560"/>
            <a:ext cx="2221992" cy="502920"/>
          </a:xfrm>
          <a:prstGeom prst="rect">
            <a:avLst/>
          </a:prstGeom>
          <a:noFill/>
          <a:ln/>
        </p:spPr>
        <p:txBody>
          <a:bodyPr wrap="square" lIns="0" tIns="0" rIns="0" bIns="0" rtlCol="0" anchor="t"/>
          <a:lstStyle/>
          <a:p>
            <a:pPr indent="0" marL="0">
              <a:buNone/>
            </a:pPr>
            <a:r>
              <a:rPr lang="en-US" sz="1400" dirty="0">
                <a:solidFill>
                  <a:schemeClr val="tx2"/>
                </a:solidFill>
              </a:rPr>
              <a:t>Min, max, range, median pitch; median duration</a:t>
            </a:r>
            <a:endParaRPr lang="en-US" sz="1400" dirty="0"/>
          </a:p>
        </p:txBody>
      </p:sp>
      <p:sp>
        <p:nvSpPr>
          <p:cNvPr id="12" name="Card Tonal &amp; texture"/>
          <p:cNvSpPr/>
          <p:nvPr/>
        </p:nvSpPr>
        <p:spPr>
          <a:xfrm>
            <a:off x="6089904" y="1280160"/>
            <a:ext cx="2587752" cy="1508760"/>
          </a:xfrm>
          <a:prstGeom prst="roundRect">
            <a:avLst>
              <a:gd name="adj" fmla="val 7273"/>
            </a:avLst>
          </a:prstGeom>
          <a:solidFill>
            <a:schemeClr val="bg2"/>
          </a:solidFill>
          <a:ln/>
        </p:spPr>
      </p:sp>
      <p:sp>
        <p:nvSpPr>
          <p:cNvPr id="13" name="Count Tonal &amp;amp; texture"/>
          <p:cNvSpPr txBox="1"/>
          <p:nvPr/>
        </p:nvSpPr>
        <p:spPr>
          <a:xfrm>
            <a:off x="6272784" y="1371600"/>
            <a:ext cx="2221992"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3</a:t>
            </a:r>
            <a:endParaRPr lang="en-US" sz="3200" dirty="0"/>
          </a:p>
        </p:txBody>
      </p:sp>
      <p:sp>
        <p:nvSpPr>
          <p:cNvPr id="14" name="Name Tonal &amp;amp; texture"/>
          <p:cNvSpPr txBox="1"/>
          <p:nvPr/>
        </p:nvSpPr>
        <p:spPr>
          <a:xfrm>
            <a:off x="6272784" y="1920240"/>
            <a:ext cx="2221992" cy="274320"/>
          </a:xfrm>
          <a:prstGeom prst="rect">
            <a:avLst/>
          </a:prstGeom>
          <a:noFill/>
          <a:ln/>
        </p:spPr>
        <p:txBody>
          <a:bodyPr wrap="square" lIns="0" tIns="0" rIns="0" bIns="0" rtlCol="0" anchor="ctr"/>
          <a:lstStyle/>
          <a:p>
            <a:pPr indent="0" marL="0">
              <a:buNone/>
            </a:pPr>
            <a:r>
              <a:rPr lang="en-US" sz="1400" b="1" dirty="0">
                <a:solidFill>
                  <a:schemeClr val="tx1"/>
                </a:solidFill>
              </a:rPr>
              <a:t>Tonal &amp; texture</a:t>
            </a:r>
            <a:endParaRPr lang="en-US" sz="1400" dirty="0"/>
          </a:p>
        </p:txBody>
      </p:sp>
      <p:sp>
        <p:nvSpPr>
          <p:cNvPr id="15" name="Desc Tonal &amp;amp; texture"/>
          <p:cNvSpPr txBox="1"/>
          <p:nvPr/>
        </p:nvSpPr>
        <p:spPr>
          <a:xfrm>
            <a:off x="6272784" y="2194560"/>
            <a:ext cx="2221992" cy="502920"/>
          </a:xfrm>
          <a:prstGeom prst="rect">
            <a:avLst/>
          </a:prstGeom>
          <a:noFill/>
          <a:ln/>
        </p:spPr>
        <p:txBody>
          <a:bodyPr wrap="square" lIns="0" tIns="0" rIns="0" bIns="0" rtlCol="0" anchor="t"/>
          <a:lstStyle/>
          <a:p>
            <a:pPr indent="0" marL="0">
              <a:buNone/>
            </a:pPr>
            <a:r>
              <a:rPr lang="en-US" sz="1400" dirty="0">
                <a:solidFill>
                  <a:schemeClr val="tx2"/>
                </a:solidFill>
              </a:rPr>
              <a:t>Pitch-class entropy, chromatic ratio, polyphony</a:t>
            </a:r>
            <a:endParaRPr lang="en-US" sz="1400" dirty="0"/>
          </a:p>
        </p:txBody>
      </p:sp>
      <p:sp>
        <p:nvSpPr>
          <p:cNvPr id="16" name="Card Pitch classes"/>
          <p:cNvSpPr/>
          <p:nvPr/>
        </p:nvSpPr>
        <p:spPr>
          <a:xfrm>
            <a:off x="457200" y="3017520"/>
            <a:ext cx="2587752" cy="1508760"/>
          </a:xfrm>
          <a:prstGeom prst="roundRect">
            <a:avLst>
              <a:gd name="adj" fmla="val 7273"/>
            </a:avLst>
          </a:prstGeom>
          <a:solidFill>
            <a:schemeClr val="bg2"/>
          </a:solidFill>
          <a:ln/>
        </p:spPr>
      </p:sp>
      <p:sp>
        <p:nvSpPr>
          <p:cNvPr id="17" name="Count Pitch classes"/>
          <p:cNvSpPr txBox="1"/>
          <p:nvPr/>
        </p:nvSpPr>
        <p:spPr>
          <a:xfrm>
            <a:off x="640080" y="3108960"/>
            <a:ext cx="2221992"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12</a:t>
            </a:r>
            <a:endParaRPr lang="en-US" sz="3200" dirty="0"/>
          </a:p>
        </p:txBody>
      </p:sp>
      <p:sp>
        <p:nvSpPr>
          <p:cNvPr id="18" name="Name Pitch classes"/>
          <p:cNvSpPr txBox="1"/>
          <p:nvPr/>
        </p:nvSpPr>
        <p:spPr>
          <a:xfrm>
            <a:off x="640080" y="3657600"/>
            <a:ext cx="2221992" cy="274320"/>
          </a:xfrm>
          <a:prstGeom prst="rect">
            <a:avLst/>
          </a:prstGeom>
          <a:noFill/>
          <a:ln/>
        </p:spPr>
        <p:txBody>
          <a:bodyPr wrap="square" lIns="0" tIns="0" rIns="0" bIns="0" rtlCol="0" anchor="ctr"/>
          <a:lstStyle/>
          <a:p>
            <a:pPr indent="0" marL="0">
              <a:buNone/>
            </a:pPr>
            <a:r>
              <a:rPr lang="en-US" sz="1400" b="1" dirty="0">
                <a:solidFill>
                  <a:schemeClr val="tx1"/>
                </a:solidFill>
              </a:rPr>
              <a:t>Pitch classes</a:t>
            </a:r>
            <a:endParaRPr lang="en-US" sz="1400" dirty="0"/>
          </a:p>
        </p:txBody>
      </p:sp>
      <p:sp>
        <p:nvSpPr>
          <p:cNvPr id="19" name="Desc Pitch classes"/>
          <p:cNvSpPr txBox="1"/>
          <p:nvPr/>
        </p:nvSpPr>
        <p:spPr>
          <a:xfrm>
            <a:off x="640080" y="3931920"/>
            <a:ext cx="2221992" cy="502920"/>
          </a:xfrm>
          <a:prstGeom prst="rect">
            <a:avLst/>
          </a:prstGeom>
          <a:noFill/>
          <a:ln/>
        </p:spPr>
        <p:txBody>
          <a:bodyPr wrap="square" lIns="0" tIns="0" rIns="0" bIns="0" rtlCol="0" anchor="t"/>
          <a:lstStyle/>
          <a:p>
            <a:pPr indent="0" marL="0">
              <a:buNone/>
            </a:pPr>
            <a:r>
              <a:rPr lang="en-US" sz="1400" dirty="0">
                <a:solidFill>
                  <a:schemeClr val="tx2"/>
                </a:solidFill>
              </a:rPr>
              <a:t>Share of notes on each of the 12 pitch classes</a:t>
            </a:r>
            <a:endParaRPr lang="en-US" sz="1400" dirty="0"/>
          </a:p>
        </p:txBody>
      </p:sp>
      <p:sp>
        <p:nvSpPr>
          <p:cNvPr id="20" name="Card Melodic intervals"/>
          <p:cNvSpPr/>
          <p:nvPr/>
        </p:nvSpPr>
        <p:spPr>
          <a:xfrm>
            <a:off x="3273552" y="3017520"/>
            <a:ext cx="2587752" cy="1508760"/>
          </a:xfrm>
          <a:prstGeom prst="roundRect">
            <a:avLst>
              <a:gd name="adj" fmla="val 7273"/>
            </a:avLst>
          </a:prstGeom>
          <a:solidFill>
            <a:schemeClr val="accent1"/>
          </a:solidFill>
          <a:ln/>
        </p:spPr>
      </p:sp>
      <p:sp>
        <p:nvSpPr>
          <p:cNvPr id="21" name="Count Melodic intervals"/>
          <p:cNvSpPr txBox="1"/>
          <p:nvPr/>
        </p:nvSpPr>
        <p:spPr>
          <a:xfrm>
            <a:off x="3456432" y="3108960"/>
            <a:ext cx="2221992" cy="54864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25</a:t>
            </a:r>
            <a:endParaRPr lang="en-US" sz="3200" dirty="0"/>
          </a:p>
        </p:txBody>
      </p:sp>
      <p:sp>
        <p:nvSpPr>
          <p:cNvPr id="22" name="Name Melodic intervals"/>
          <p:cNvSpPr txBox="1"/>
          <p:nvPr/>
        </p:nvSpPr>
        <p:spPr>
          <a:xfrm>
            <a:off x="3456432" y="3657600"/>
            <a:ext cx="2221992" cy="274320"/>
          </a:xfrm>
          <a:prstGeom prst="rect">
            <a:avLst/>
          </a:prstGeom>
          <a:noFill/>
          <a:ln/>
        </p:spPr>
        <p:txBody>
          <a:bodyPr wrap="square" lIns="0" tIns="0" rIns="0" bIns="0" rtlCol="0" anchor="ctr"/>
          <a:lstStyle/>
          <a:p>
            <a:pPr indent="0" marL="0">
              <a:buNone/>
            </a:pPr>
            <a:r>
              <a:rPr lang="en-US" sz="1400" b="1" dirty="0">
                <a:solidFill>
                  <a:schemeClr val="bg1"/>
                </a:solidFill>
              </a:rPr>
              <a:t>Melodic intervals</a:t>
            </a:r>
            <a:endParaRPr lang="en-US" sz="1400" dirty="0"/>
          </a:p>
        </p:txBody>
      </p:sp>
      <p:sp>
        <p:nvSpPr>
          <p:cNvPr id="23" name="Desc Melodic intervals"/>
          <p:cNvSpPr txBox="1"/>
          <p:nvPr/>
        </p:nvSpPr>
        <p:spPr>
          <a:xfrm>
            <a:off x="3456432" y="3931920"/>
            <a:ext cx="2221992" cy="502920"/>
          </a:xfrm>
          <a:prstGeom prst="rect">
            <a:avLst/>
          </a:prstGeom>
          <a:noFill/>
          <a:ln/>
        </p:spPr>
        <p:txBody>
          <a:bodyPr wrap="square" lIns="0" tIns="0" rIns="0" bIns="0" rtlCol="0" anchor="t"/>
          <a:lstStyle/>
          <a:p>
            <a:pPr indent="0" marL="0">
              <a:buNone/>
            </a:pPr>
            <a:r>
              <a:rPr lang="en-US" sz="1400" dirty="0">
                <a:solidFill>
                  <a:schemeClr val="bg2"/>
                </a:solidFill>
              </a:rPr>
              <a:t>Steps between consecutive notes, ±12 semitones</a:t>
            </a:r>
            <a:endParaRPr lang="en-US" sz="1400" dirty="0"/>
          </a:p>
        </p:txBody>
      </p:sp>
      <p:sp>
        <p:nvSpPr>
          <p:cNvPr id="24" name="Card Vertical intervals"/>
          <p:cNvSpPr/>
          <p:nvPr/>
        </p:nvSpPr>
        <p:spPr>
          <a:xfrm>
            <a:off x="6089904" y="3017520"/>
            <a:ext cx="2587752" cy="1508760"/>
          </a:xfrm>
          <a:prstGeom prst="roundRect">
            <a:avLst>
              <a:gd name="adj" fmla="val 7273"/>
            </a:avLst>
          </a:prstGeom>
          <a:solidFill>
            <a:schemeClr val="accent1"/>
          </a:solidFill>
          <a:ln/>
        </p:spPr>
      </p:sp>
      <p:sp>
        <p:nvSpPr>
          <p:cNvPr id="25" name="Count Vertical intervals"/>
          <p:cNvSpPr txBox="1"/>
          <p:nvPr/>
        </p:nvSpPr>
        <p:spPr>
          <a:xfrm>
            <a:off x="6272784" y="3108960"/>
            <a:ext cx="2221992" cy="54864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25</a:t>
            </a:r>
            <a:endParaRPr lang="en-US" sz="3200" dirty="0"/>
          </a:p>
        </p:txBody>
      </p:sp>
      <p:sp>
        <p:nvSpPr>
          <p:cNvPr id="26" name="Name Vertical intervals"/>
          <p:cNvSpPr txBox="1"/>
          <p:nvPr/>
        </p:nvSpPr>
        <p:spPr>
          <a:xfrm>
            <a:off x="6272784" y="3657600"/>
            <a:ext cx="2221992" cy="274320"/>
          </a:xfrm>
          <a:prstGeom prst="rect">
            <a:avLst/>
          </a:prstGeom>
          <a:noFill/>
          <a:ln/>
        </p:spPr>
        <p:txBody>
          <a:bodyPr wrap="square" lIns="0" tIns="0" rIns="0" bIns="0" rtlCol="0" anchor="ctr"/>
          <a:lstStyle/>
          <a:p>
            <a:pPr indent="0" marL="0">
              <a:buNone/>
            </a:pPr>
            <a:r>
              <a:rPr lang="en-US" sz="1400" b="1" dirty="0">
                <a:solidFill>
                  <a:schemeClr val="bg1"/>
                </a:solidFill>
              </a:rPr>
              <a:t>Vertical intervals</a:t>
            </a:r>
            <a:endParaRPr lang="en-US" sz="1400" dirty="0"/>
          </a:p>
        </p:txBody>
      </p:sp>
      <p:sp>
        <p:nvSpPr>
          <p:cNvPr id="27" name="Desc Vertical intervals"/>
          <p:cNvSpPr txBox="1"/>
          <p:nvPr/>
        </p:nvSpPr>
        <p:spPr>
          <a:xfrm>
            <a:off x="6272784" y="3931920"/>
            <a:ext cx="2221992" cy="502920"/>
          </a:xfrm>
          <a:prstGeom prst="rect">
            <a:avLst/>
          </a:prstGeom>
          <a:noFill/>
          <a:ln/>
        </p:spPr>
        <p:txBody>
          <a:bodyPr wrap="square" lIns="0" tIns="0" rIns="0" bIns="0" rtlCol="0" anchor="t"/>
          <a:lstStyle/>
          <a:p>
            <a:pPr indent="0" marL="0">
              <a:buNone/>
            </a:pPr>
            <a:r>
              <a:rPr lang="en-US" sz="1400" dirty="0">
                <a:solidFill>
                  <a:schemeClr val="bg2"/>
                </a:solidFill>
              </a:rPr>
              <a:t>Gaps between simultaneous notes, ±12 semitones</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4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art tag"/>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200" kern="0" dirty="0">
                <a:solidFill>
                  <a:schemeClr val="tx2"/>
                </a:solidFill>
              </a:rPr>
              <a:t>PROJECT OVERVIEW</a:t>
            </a:r>
            <a:endParaRPr lang="en-US" sz="1100" dirty="0"/>
          </a:p>
        </p:txBody>
      </p:sp>
      <p:sp>
        <p:nvSpPr>
          <p:cNvPr id="3" name="Text 0"/>
          <p:cNvSpPr/>
          <p:nvPr>
            <p:ph idx="100" type="title" hasCustomPrompt="1"/>
          </p:nvPr>
        </p:nvSpPr>
        <p:spPr>
          <a:xfrm>
            <a:off x="457200" y="5029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One fair split for every model</a:t>
            </a:r>
            <a:endParaRPr lang="en-US" sz="3200" dirty="0"/>
          </a:p>
        </p:txBody>
      </p:sp>
      <p:sp>
        <p:nvSpPr>
          <p:cNvPr id="4" name="Split Train  147"/>
          <p:cNvSpPr txBox="1"/>
          <p:nvPr/>
        </p:nvSpPr>
        <p:spPr>
          <a:xfrm>
            <a:off x="457200" y="1417320"/>
            <a:ext cx="2980944" cy="731520"/>
          </a:xfrm>
          <a:prstGeom prst="rect">
            <a:avLst/>
          </a:prstGeom>
          <a:solidFill>
            <a:schemeClr val="accent1"/>
          </a:solidFill>
          <a:ln/>
        </p:spPr>
        <p:txBody>
          <a:bodyPr wrap="square" lIns="0" tIns="0" rIns="0" bIns="0" rtlCol="0" anchor="ctr"/>
          <a:lstStyle/>
          <a:p>
            <a:pPr algn="ctr" indent="0" marL="0">
              <a:buNone/>
            </a:pPr>
            <a:r>
              <a:rPr lang="en-US" sz="1400" b="1" dirty="0">
                <a:solidFill>
                  <a:schemeClr val="bg1"/>
                </a:solidFill>
              </a:rPr>
              <a:t>Train  147</a:t>
            </a:r>
            <a:endParaRPr lang="en-US" sz="1400" dirty="0"/>
          </a:p>
        </p:txBody>
      </p:sp>
      <p:sp>
        <p:nvSpPr>
          <p:cNvPr id="5" name="Split Dev  49"/>
          <p:cNvSpPr txBox="1"/>
          <p:nvPr/>
        </p:nvSpPr>
        <p:spPr>
          <a:xfrm>
            <a:off x="3474720" y="1417320"/>
            <a:ext cx="969264" cy="731520"/>
          </a:xfrm>
          <a:prstGeom prst="rect">
            <a:avLst/>
          </a:prstGeom>
          <a:solidFill>
            <a:schemeClr val="accent4"/>
          </a:solidFill>
          <a:ln/>
        </p:spPr>
        <p:txBody>
          <a:bodyPr wrap="square" lIns="0" tIns="0" rIns="0" bIns="0" rtlCol="0" anchor="ctr"/>
          <a:lstStyle/>
          <a:p>
            <a:pPr algn="ctr" indent="0" marL="0">
              <a:buNone/>
            </a:pPr>
            <a:r>
              <a:rPr lang="en-US" sz="1400" b="1" dirty="0">
                <a:solidFill>
                  <a:schemeClr val="bg1"/>
                </a:solidFill>
              </a:rPr>
              <a:t>Dev  49</a:t>
            </a:r>
            <a:endParaRPr lang="en-US" sz="1400" dirty="0"/>
          </a:p>
        </p:txBody>
      </p:sp>
      <p:sp>
        <p:nvSpPr>
          <p:cNvPr id="6" name="Split Test  49"/>
          <p:cNvSpPr txBox="1"/>
          <p:nvPr/>
        </p:nvSpPr>
        <p:spPr>
          <a:xfrm>
            <a:off x="4480560" y="1417320"/>
            <a:ext cx="969264" cy="731520"/>
          </a:xfrm>
          <a:prstGeom prst="rect">
            <a:avLst/>
          </a:prstGeom>
          <a:solidFill>
            <a:schemeClr val="accent3"/>
          </a:solidFill>
          <a:ln/>
        </p:spPr>
        <p:txBody>
          <a:bodyPr wrap="square" lIns="0" tIns="0" rIns="0" bIns="0" rtlCol="0" anchor="ctr"/>
          <a:lstStyle/>
          <a:p>
            <a:pPr algn="ctr" indent="0" marL="0">
              <a:buNone/>
            </a:pPr>
            <a:r>
              <a:rPr lang="en-US" sz="1400" b="1" dirty="0">
                <a:solidFill>
                  <a:schemeClr val="tx1"/>
                </a:solidFill>
              </a:rPr>
              <a:t>Test  49</a:t>
            </a:r>
            <a:endParaRPr lang="en-US" sz="1400" dirty="0"/>
          </a:p>
        </p:txBody>
      </p:sp>
      <p:sp>
        <p:nvSpPr>
          <p:cNvPr id="7" name="Dot Train"/>
          <p:cNvSpPr/>
          <p:nvPr/>
        </p:nvSpPr>
        <p:spPr>
          <a:xfrm>
            <a:off x="457200" y="2496312"/>
            <a:ext cx="182880" cy="182880"/>
          </a:xfrm>
          <a:prstGeom prst="ellipse">
            <a:avLst/>
          </a:prstGeom>
          <a:solidFill>
            <a:schemeClr val="accent1"/>
          </a:solidFill>
          <a:ln/>
        </p:spPr>
      </p:sp>
      <p:sp>
        <p:nvSpPr>
          <p:cNvPr id="8" name="Legend Train"/>
          <p:cNvSpPr txBox="1"/>
          <p:nvPr/>
        </p:nvSpPr>
        <p:spPr>
          <a:xfrm>
            <a:off x="777240" y="2423160"/>
            <a:ext cx="4663440" cy="329184"/>
          </a:xfrm>
          <a:prstGeom prst="rect">
            <a:avLst/>
          </a:prstGeom>
          <a:noFill/>
          <a:ln/>
        </p:spPr>
        <p:txBody>
          <a:bodyPr wrap="square" lIns="0" tIns="0" rIns="0" bIns="0" rtlCol="0" anchor="ctr"/>
          <a:lstStyle/>
          <a:p>
            <a:pPr indent="0" marL="0">
              <a:buNone/>
            </a:pPr>
            <a:r>
              <a:rPr lang="en-US" sz="1400" b="1" dirty="0">
                <a:solidFill>
                  <a:schemeClr val="tx1"/>
                </a:solidFill>
              </a:rPr>
              <a:t>Train  </a:t>
            </a:r>
            <a:pPr indent="0" marL="0">
              <a:buNone/>
            </a:pPr>
            <a:r>
              <a:rPr lang="en-US" sz="1400" dirty="0">
                <a:solidFill>
                  <a:schemeClr val="tx1"/>
                </a:solidFill>
              </a:rPr>
              <a:t>fit the models</a:t>
            </a:r>
            <a:endParaRPr lang="en-US" sz="1400" dirty="0"/>
          </a:p>
        </p:txBody>
      </p:sp>
      <p:sp>
        <p:nvSpPr>
          <p:cNvPr id="9" name="Dot Dev"/>
          <p:cNvSpPr/>
          <p:nvPr/>
        </p:nvSpPr>
        <p:spPr>
          <a:xfrm>
            <a:off x="457200" y="2953512"/>
            <a:ext cx="182880" cy="182880"/>
          </a:xfrm>
          <a:prstGeom prst="ellipse">
            <a:avLst/>
          </a:prstGeom>
          <a:solidFill>
            <a:schemeClr val="accent4"/>
          </a:solidFill>
          <a:ln/>
        </p:spPr>
      </p:sp>
      <p:sp>
        <p:nvSpPr>
          <p:cNvPr id="10" name="Legend Dev"/>
          <p:cNvSpPr txBox="1"/>
          <p:nvPr/>
        </p:nvSpPr>
        <p:spPr>
          <a:xfrm>
            <a:off x="777240" y="2880360"/>
            <a:ext cx="4663440" cy="329184"/>
          </a:xfrm>
          <a:prstGeom prst="rect">
            <a:avLst/>
          </a:prstGeom>
          <a:noFill/>
          <a:ln/>
        </p:spPr>
        <p:txBody>
          <a:bodyPr wrap="square" lIns="0" tIns="0" rIns="0" bIns="0" rtlCol="0" anchor="ctr"/>
          <a:lstStyle/>
          <a:p>
            <a:pPr indent="0" marL="0">
              <a:buNone/>
            </a:pPr>
            <a:r>
              <a:rPr lang="en-US" sz="1400" b="1" dirty="0">
                <a:solidFill>
                  <a:schemeClr val="tx1"/>
                </a:solidFill>
              </a:rPr>
              <a:t>Dev  </a:t>
            </a:r>
            <a:pPr indent="0" marL="0">
              <a:buNone/>
            </a:pPr>
            <a:r>
              <a:rPr lang="en-US" sz="1400" dirty="0">
                <a:solidFill>
                  <a:schemeClr val="tx1"/>
                </a:solidFill>
              </a:rPr>
              <a:t>compare models, tune, early-stop</a:t>
            </a:r>
            <a:endParaRPr lang="en-US" sz="1400" dirty="0"/>
          </a:p>
        </p:txBody>
      </p:sp>
      <p:sp>
        <p:nvSpPr>
          <p:cNvPr id="11" name="Dot Test"/>
          <p:cNvSpPr/>
          <p:nvPr/>
        </p:nvSpPr>
        <p:spPr>
          <a:xfrm>
            <a:off x="457200" y="3410712"/>
            <a:ext cx="182880" cy="182880"/>
          </a:xfrm>
          <a:prstGeom prst="ellipse">
            <a:avLst/>
          </a:prstGeom>
          <a:solidFill>
            <a:schemeClr val="accent3"/>
          </a:solidFill>
          <a:ln/>
        </p:spPr>
      </p:sp>
      <p:sp>
        <p:nvSpPr>
          <p:cNvPr id="12" name="Legend Test"/>
          <p:cNvSpPr txBox="1"/>
          <p:nvPr/>
        </p:nvSpPr>
        <p:spPr>
          <a:xfrm>
            <a:off x="777240" y="3337560"/>
            <a:ext cx="4663440" cy="329184"/>
          </a:xfrm>
          <a:prstGeom prst="rect">
            <a:avLst/>
          </a:prstGeom>
          <a:noFill/>
          <a:ln/>
        </p:spPr>
        <p:txBody>
          <a:bodyPr wrap="square" lIns="0" tIns="0" rIns="0" bIns="0" rtlCol="0" anchor="ctr"/>
          <a:lstStyle/>
          <a:p>
            <a:pPr indent="0" marL="0">
              <a:buNone/>
            </a:pPr>
            <a:r>
              <a:rPr lang="en-US" sz="1400" b="1" dirty="0">
                <a:solidFill>
                  <a:schemeClr val="tx1"/>
                </a:solidFill>
              </a:rPr>
              <a:t>Test  </a:t>
            </a:r>
            <a:pPr indent="0" marL="0">
              <a:buNone/>
            </a:pPr>
            <a:r>
              <a:rPr lang="en-US" sz="1400" dirty="0">
                <a:solidFill>
                  <a:schemeClr val="tx1"/>
                </a:solidFill>
              </a:rPr>
              <a:t>scored once, after model selection</a:t>
            </a:r>
            <a:endParaRPr lang="en-US" sz="1400" dirty="0"/>
          </a:p>
        </p:txBody>
      </p:sp>
      <p:sp>
        <p:nvSpPr>
          <p:cNvPr id="13" name="Split note"/>
          <p:cNvSpPr txBox="1"/>
          <p:nvPr/>
        </p:nvSpPr>
        <p:spPr>
          <a:xfrm>
            <a:off x="457200" y="3840480"/>
            <a:ext cx="5029200" cy="731520"/>
          </a:xfrm>
          <a:prstGeom prst="rect">
            <a:avLst/>
          </a:prstGeom>
          <a:noFill/>
          <a:ln/>
        </p:spPr>
        <p:txBody>
          <a:bodyPr wrap="square" lIns="0" tIns="0" rIns="0" bIns="0" rtlCol="0" anchor="t"/>
          <a:lstStyle/>
          <a:p>
            <a:pPr indent="0" marL="0">
              <a:buNone/>
            </a:pPr>
            <a:r>
              <a:rPr lang="en-US" sz="1400" dirty="0">
                <a:solidFill>
                  <a:schemeClr val="tx2"/>
                </a:solidFill>
              </a:rPr>
              <a:t>Stratified 60/20/20, seed 42, identical for the classical models, the FCNN and the CNNs. Macro-F1 picks the winner because it weights every composer equally.</a:t>
            </a:r>
            <a:endParaRPr lang="en-US" sz="1400" dirty="0"/>
          </a:p>
        </p:txBody>
      </p:sp>
      <p:sp>
        <p:nvSpPr>
          <p:cNvPr id="14" name="Baseline card"/>
          <p:cNvSpPr/>
          <p:nvPr/>
        </p:nvSpPr>
        <p:spPr>
          <a:xfrm>
            <a:off x="5943600" y="1280160"/>
            <a:ext cx="2743200" cy="3291840"/>
          </a:xfrm>
          <a:prstGeom prst="roundRect">
            <a:avLst>
              <a:gd name="adj" fmla="val 4000"/>
            </a:avLst>
          </a:prstGeom>
          <a:solidFill>
            <a:schemeClr val="bg2"/>
          </a:solidFill>
          <a:ln/>
        </p:spPr>
      </p:sp>
      <p:sp>
        <p:nvSpPr>
          <p:cNvPr id="15" name="Baseline head"/>
          <p:cNvSpPr txBox="1"/>
          <p:nvPr/>
        </p:nvSpPr>
        <p:spPr>
          <a:xfrm>
            <a:off x="6172200" y="1417320"/>
            <a:ext cx="2286000" cy="274320"/>
          </a:xfrm>
          <a:prstGeom prst="rect">
            <a:avLst/>
          </a:prstGeom>
          <a:noFill/>
          <a:ln/>
        </p:spPr>
        <p:txBody>
          <a:bodyPr wrap="square" lIns="0" tIns="0" rIns="0" bIns="0" rtlCol="0" anchor="ctr"/>
          <a:lstStyle/>
          <a:p>
            <a:pPr indent="0" marL="0">
              <a:buNone/>
            </a:pPr>
            <a:r>
              <a:rPr lang="en-US" sz="1400" b="1" dirty="0">
                <a:solidFill>
                  <a:schemeClr val="tx1"/>
                </a:solidFill>
              </a:rPr>
              <a:t>Baselines to beat</a:t>
            </a:r>
            <a:endParaRPr lang="en-US" sz="1400" dirty="0"/>
          </a:p>
        </p:txBody>
      </p:sp>
      <p:sp>
        <p:nvSpPr>
          <p:cNvPr id="16" name="Stat ≈ 9%"/>
          <p:cNvSpPr txBox="1"/>
          <p:nvPr/>
        </p:nvSpPr>
        <p:spPr>
          <a:xfrm>
            <a:off x="6172200" y="1783080"/>
            <a:ext cx="2286000" cy="685800"/>
          </a:xfrm>
          <a:prstGeom prst="rect">
            <a:avLst/>
          </a:prstGeom>
          <a:noFill/>
          <a:ln/>
        </p:spPr>
        <p:txBody>
          <a:bodyPr wrap="square" lIns="0" tIns="0" rIns="0" bIns="0" rtlCol="0" anchor="b"/>
          <a:lstStyle/>
          <a:p>
            <a:pPr indent="0" marL="0">
              <a:buNone/>
            </a:pPr>
            <a:r>
              <a:rPr lang="en-US" sz="4000" b="1" dirty="0">
                <a:solidFill>
                  <a:schemeClr val="accent6"/>
                </a:solidFill>
                <a:latin typeface="Cambria" pitchFamily="34" charset="0"/>
                <a:ea typeface="Cambria" pitchFamily="34" charset="-122"/>
                <a:cs typeface="Cambria" pitchFamily="34" charset="-120"/>
              </a:rPr>
              <a:t>≈ 9%</a:t>
            </a:r>
            <a:endParaRPr lang="en-US" sz="4000" dirty="0"/>
          </a:p>
        </p:txBody>
      </p:sp>
      <p:sp>
        <p:nvSpPr>
          <p:cNvPr id="17" name="Stat label ≈ 9%"/>
          <p:cNvSpPr txBox="1"/>
          <p:nvPr/>
        </p:nvSpPr>
        <p:spPr>
          <a:xfrm>
            <a:off x="6172200" y="2496312"/>
            <a:ext cx="2286000" cy="457200"/>
          </a:xfrm>
          <a:prstGeom prst="rect">
            <a:avLst/>
          </a:prstGeom>
          <a:noFill/>
          <a:ln/>
        </p:spPr>
        <p:txBody>
          <a:bodyPr wrap="square" lIns="0" tIns="0" rIns="0" bIns="0" rtlCol="0" anchor="t"/>
          <a:lstStyle/>
          <a:p>
            <a:pPr indent="0" marL="0">
              <a:buNone/>
            </a:pPr>
            <a:r>
              <a:rPr lang="en-US" sz="1400" dirty="0">
                <a:solidFill>
                  <a:schemeClr val="tx1"/>
                </a:solidFill>
              </a:rPr>
              <a:t>random guess among 11 composers</a:t>
            </a:r>
            <a:endParaRPr lang="en-US" sz="1400" dirty="0"/>
          </a:p>
        </p:txBody>
      </p:sp>
      <p:sp>
        <p:nvSpPr>
          <p:cNvPr id="18" name="Stat 18.4%"/>
          <p:cNvSpPr txBox="1"/>
          <p:nvPr/>
        </p:nvSpPr>
        <p:spPr>
          <a:xfrm>
            <a:off x="6172200" y="3017520"/>
            <a:ext cx="2286000" cy="685800"/>
          </a:xfrm>
          <a:prstGeom prst="rect">
            <a:avLst/>
          </a:prstGeom>
          <a:noFill/>
          <a:ln/>
        </p:spPr>
        <p:txBody>
          <a:bodyPr wrap="square" lIns="0" tIns="0" rIns="0" bIns="0" rtlCol="0" anchor="b"/>
          <a:lstStyle/>
          <a:p>
            <a:pPr indent="0" marL="0">
              <a:buNone/>
            </a:pPr>
            <a:r>
              <a:rPr lang="en-US" sz="4000" b="1" dirty="0">
                <a:solidFill>
                  <a:schemeClr val="accent6"/>
                </a:solidFill>
                <a:latin typeface="Cambria" pitchFamily="34" charset="0"/>
                <a:ea typeface="Cambria" pitchFamily="34" charset="-122"/>
                <a:cs typeface="Cambria" pitchFamily="34" charset="-120"/>
              </a:rPr>
              <a:t>18.4%</a:t>
            </a:r>
            <a:endParaRPr lang="en-US" sz="4000" dirty="0"/>
          </a:p>
        </p:txBody>
      </p:sp>
      <p:sp>
        <p:nvSpPr>
          <p:cNvPr id="19" name="Stat label 18.4%"/>
          <p:cNvSpPr txBox="1"/>
          <p:nvPr/>
        </p:nvSpPr>
        <p:spPr>
          <a:xfrm>
            <a:off x="6172200" y="3730752"/>
            <a:ext cx="2286000" cy="457200"/>
          </a:xfrm>
          <a:prstGeom prst="rect">
            <a:avLst/>
          </a:prstGeom>
          <a:noFill/>
          <a:ln/>
        </p:spPr>
        <p:txBody>
          <a:bodyPr wrap="square" lIns="0" tIns="0" rIns="0" bIns="0" rtlCol="0" anchor="t"/>
          <a:lstStyle/>
          <a:p>
            <a:pPr indent="0" marL="0">
              <a:buNone/>
            </a:pPr>
            <a:r>
              <a:rPr lang="en-US" sz="1400" dirty="0">
                <a:solidFill>
                  <a:schemeClr val="tx1"/>
                </a:solidFill>
              </a:rPr>
              <a:t>always predict Chopin (9 of 49 test pieces)</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4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Part tag"/>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PART 1  ·  FEATURE-BASED ML</a:t>
            </a:r>
            <a:endParaRPr lang="en-US" sz="1100" dirty="0"/>
          </a:p>
        </p:txBody>
      </p:sp>
      <p:sp>
        <p:nvSpPr>
          <p:cNvPr id="3" name="Text 0"/>
          <p:cNvSpPr/>
          <p:nvPr>
            <p:ph idx="100" type="title" hasCustomPrompt="1"/>
          </p:nvPr>
        </p:nvSpPr>
        <p:spPr>
          <a:xfrm>
            <a:off x="457200" y="5029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Logistic Regression wins on macro-F1</a:t>
            </a:r>
            <a:endParaRPr lang="en-US" sz="3200" dirty="0"/>
          </a:p>
        </p:txBody>
      </p:sp>
      <p:graphicFrame>
        <p:nvGraphicFramePr>
          <p:cNvPr id="4" name="Chart 0" descr=""/>
          <p:cNvGraphicFramePr/>
          <p:nvPr/>
        </p:nvGraphicFramePr>
        <p:xfrm>
          <a:off x="457200" y="1234440"/>
          <a:ext cx="5394960" cy="3429000"/>
        </p:xfrm>
        <a:graphic xmlns:a="http://schemas.openxmlformats.org/drawingml/2006/main">
          <a:graphicData uri="http://schemas.openxmlformats.org/drawingml/2006/chart">
            <c:chart xmlns:c="http://schemas.openxmlformats.org/drawingml/2006/chart" r:id="rId1"/>
          </a:graphicData>
        </a:graphic>
      </p:graphicFrame>
      <p:sp>
        <p:nvSpPr>
          <p:cNvPr id="5" name="Test card"/>
          <p:cNvSpPr/>
          <p:nvPr/>
        </p:nvSpPr>
        <p:spPr>
          <a:xfrm>
            <a:off x="6126480" y="1280160"/>
            <a:ext cx="2560320" cy="3291840"/>
          </a:xfrm>
          <a:prstGeom prst="roundRect">
            <a:avLst>
              <a:gd name="adj" fmla="val 4286"/>
            </a:avLst>
          </a:prstGeom>
          <a:solidFill>
            <a:schemeClr val="bg2"/>
          </a:solidFill>
          <a:ln/>
        </p:spPr>
      </p:sp>
      <p:sp>
        <p:nvSpPr>
          <p:cNvPr id="6" name="Test head"/>
          <p:cNvSpPr txBox="1"/>
          <p:nvPr/>
        </p:nvSpPr>
        <p:spPr>
          <a:xfrm>
            <a:off x="6355080" y="1417320"/>
            <a:ext cx="2103120" cy="274320"/>
          </a:xfrm>
          <a:prstGeom prst="rect">
            <a:avLst/>
          </a:prstGeom>
          <a:noFill/>
          <a:ln/>
        </p:spPr>
        <p:txBody>
          <a:bodyPr wrap="square" lIns="0" tIns="0" rIns="0" bIns="0" rtlCol="0" anchor="ctr"/>
          <a:lstStyle/>
          <a:p>
            <a:pPr indent="0" marL="0">
              <a:buNone/>
            </a:pPr>
            <a:r>
              <a:rPr lang="en-US" sz="1400" b="1" dirty="0">
                <a:solidFill>
                  <a:schemeClr val="tx1"/>
                </a:solidFill>
              </a:rPr>
              <a:t>Final test result</a:t>
            </a:r>
            <a:endParaRPr lang="en-US" sz="1400" dirty="0"/>
          </a:p>
        </p:txBody>
      </p:sp>
      <p:sp>
        <p:nvSpPr>
          <p:cNvPr id="7" name="Stat 46.9%"/>
          <p:cNvSpPr txBox="1"/>
          <p:nvPr/>
        </p:nvSpPr>
        <p:spPr>
          <a:xfrm>
            <a:off x="6355080" y="1737360"/>
            <a:ext cx="2103120" cy="68580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46.9%</a:t>
            </a:r>
            <a:endParaRPr lang="en-US" sz="4000" dirty="0"/>
          </a:p>
        </p:txBody>
      </p:sp>
      <p:sp>
        <p:nvSpPr>
          <p:cNvPr id="8" name="Stat label 46.9%"/>
          <p:cNvSpPr txBox="1"/>
          <p:nvPr/>
        </p:nvSpPr>
        <p:spPr>
          <a:xfrm>
            <a:off x="6355080" y="2450592"/>
            <a:ext cx="2103120" cy="457200"/>
          </a:xfrm>
          <a:prstGeom prst="rect">
            <a:avLst/>
          </a:prstGeom>
          <a:noFill/>
          <a:ln/>
        </p:spPr>
        <p:txBody>
          <a:bodyPr wrap="square" lIns="0" tIns="0" rIns="0" bIns="0" rtlCol="0" anchor="t"/>
          <a:lstStyle/>
          <a:p>
            <a:pPr indent="0" marL="0">
              <a:buNone/>
            </a:pPr>
            <a:r>
              <a:rPr lang="en-US" sz="1400" dirty="0">
                <a:solidFill>
                  <a:schemeClr val="tx1"/>
                </a:solidFill>
              </a:rPr>
              <a:t>accuracy, 23 of 49 pieces</a:t>
            </a:r>
            <a:endParaRPr lang="en-US" sz="1400" dirty="0"/>
          </a:p>
        </p:txBody>
      </p:sp>
      <p:sp>
        <p:nvSpPr>
          <p:cNvPr id="9" name="Stat 0.451"/>
          <p:cNvSpPr txBox="1"/>
          <p:nvPr/>
        </p:nvSpPr>
        <p:spPr>
          <a:xfrm>
            <a:off x="6355080" y="2926080"/>
            <a:ext cx="2103120" cy="68580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0.451</a:t>
            </a:r>
            <a:endParaRPr lang="en-US" sz="4000" dirty="0"/>
          </a:p>
        </p:txBody>
      </p:sp>
      <p:sp>
        <p:nvSpPr>
          <p:cNvPr id="10" name="Stat label 0.451"/>
          <p:cNvSpPr txBox="1"/>
          <p:nvPr/>
        </p:nvSpPr>
        <p:spPr>
          <a:xfrm>
            <a:off x="6355080" y="3639312"/>
            <a:ext cx="2103120" cy="457200"/>
          </a:xfrm>
          <a:prstGeom prst="rect">
            <a:avLst/>
          </a:prstGeom>
          <a:noFill/>
          <a:ln/>
        </p:spPr>
        <p:txBody>
          <a:bodyPr wrap="square" lIns="0" tIns="0" rIns="0" bIns="0" rtlCol="0" anchor="t"/>
          <a:lstStyle/>
          <a:p>
            <a:pPr indent="0" marL="0">
              <a:buNone/>
            </a:pPr>
            <a:r>
              <a:rPr lang="en-US" sz="1400" dirty="0">
                <a:solidFill>
                  <a:schemeClr val="tx1"/>
                </a:solidFill>
              </a:rPr>
              <a:t>macro-F1, 11 classes</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4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Part tag"/>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200" kern="0" dirty="0">
                <a:solidFill>
                  <a:schemeClr val="accent1"/>
                </a:solidFill>
              </a:rPr>
              <a:t>PART 1  ·  FEATURE-BASED ML</a:t>
            </a:r>
            <a:endParaRPr lang="en-US" sz="1100" dirty="0"/>
          </a:p>
        </p:txBody>
      </p:sp>
      <p:sp>
        <p:nvSpPr>
          <p:cNvPr id="3" name="Text 0"/>
          <p:cNvSpPr/>
          <p:nvPr>
            <p:ph idx="100" type="title" hasCustomPrompt="1"/>
          </p:nvPr>
        </p:nvSpPr>
        <p:spPr>
          <a:xfrm>
            <a:off x="457200" y="5029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Interval features carry the signal</a:t>
            </a:r>
            <a:endParaRPr lang="en-US" sz="3200" dirty="0"/>
          </a:p>
        </p:txBody>
      </p:sp>
      <p:graphicFrame>
        <p:nvGraphicFramePr>
          <p:cNvPr id="4" name="Chart 0" descr=""/>
          <p:cNvGraphicFramePr/>
          <p:nvPr/>
        </p:nvGraphicFramePr>
        <p:xfrm>
          <a:off x="457200" y="1234440"/>
          <a:ext cx="4937760" cy="3154680"/>
        </p:xfrm>
        <a:graphic xmlns:a="http://schemas.openxmlformats.org/drawingml/2006/main">
          <a:graphicData uri="http://schemas.openxmlformats.org/drawingml/2006/chart">
            <c:chart xmlns:c="http://schemas.openxmlformats.org/drawingml/2006/chart" r:id="rId1"/>
          </a:graphicData>
        </a:graphic>
      </p:graphicFrame>
      <p:sp>
        <p:nvSpPr>
          <p:cNvPr id="5" name="Ablation caveat"/>
          <p:cNvSpPr txBox="1"/>
          <p:nvPr/>
        </p:nvSpPr>
        <p:spPr>
          <a:xfrm>
            <a:off x="457200" y="4407408"/>
            <a:ext cx="4937760" cy="365760"/>
          </a:xfrm>
          <a:prstGeom prst="rect">
            <a:avLst/>
          </a:prstGeom>
          <a:noFill/>
          <a:ln/>
        </p:spPr>
        <p:txBody>
          <a:bodyPr wrap="square" lIns="0" tIns="0" rIns="0" bIns="0" rtlCol="0" anchor="t"/>
          <a:lstStyle/>
          <a:p>
            <a:pPr indent="0" marL="0">
              <a:buNone/>
            </a:pPr>
            <a:r>
              <a:rPr lang="en-US" sz="1000" dirty="0">
                <a:solidFill>
                  <a:schemeClr val="tx2"/>
                </a:solidFill>
              </a:rPr>
              <a:t>Earlier 80/20 holdout, not comparable to the test results; 20 vs. 28 features is 8 pieces out of 49.</a:t>
            </a:r>
            <a:endParaRPr lang="en-US" sz="1000" dirty="0"/>
          </a:p>
        </p:txBody>
      </p:sp>
      <p:sp>
        <p:nvSpPr>
          <p:cNvPr id="6" name="Era card"/>
          <p:cNvSpPr/>
          <p:nvPr/>
        </p:nvSpPr>
        <p:spPr>
          <a:xfrm>
            <a:off x="5669280" y="1280160"/>
            <a:ext cx="3017520" cy="3291840"/>
          </a:xfrm>
          <a:prstGeom prst="roundRect">
            <a:avLst>
              <a:gd name="adj" fmla="val 3636"/>
            </a:avLst>
          </a:prstGeom>
          <a:solidFill>
            <a:schemeClr val="bg2"/>
          </a:solidFill>
          <a:ln/>
        </p:spPr>
      </p:sp>
      <p:sp>
        <p:nvSpPr>
          <p:cNvPr id="7" name="Era head"/>
          <p:cNvSpPr txBox="1"/>
          <p:nvPr/>
        </p:nvSpPr>
        <p:spPr>
          <a:xfrm>
            <a:off x="5897880" y="1417320"/>
            <a:ext cx="2560320" cy="274320"/>
          </a:xfrm>
          <a:prstGeom prst="rect">
            <a:avLst/>
          </a:prstGeom>
          <a:noFill/>
          <a:ln/>
        </p:spPr>
        <p:txBody>
          <a:bodyPr wrap="square" lIns="0" tIns="0" rIns="0" bIns="0" rtlCol="0" anchor="ctr"/>
          <a:lstStyle/>
          <a:p>
            <a:pPr indent="0" marL="0">
              <a:buNone/>
            </a:pPr>
            <a:r>
              <a:rPr lang="en-US" sz="1400" b="1" dirty="0">
                <a:solidFill>
                  <a:schemeClr val="tx1"/>
                </a:solidFill>
              </a:rPr>
              <a:t>Classical vs. Romantic</a:t>
            </a:r>
            <a:endParaRPr lang="en-US" sz="1400" dirty="0"/>
          </a:p>
        </p:txBody>
      </p:sp>
      <p:sp>
        <p:nvSpPr>
          <p:cNvPr id="8" name="Stat 0.964"/>
          <p:cNvSpPr txBox="1"/>
          <p:nvPr/>
        </p:nvSpPr>
        <p:spPr>
          <a:xfrm>
            <a:off x="5897880" y="1737360"/>
            <a:ext cx="2560320" cy="685800"/>
          </a:xfrm>
          <a:prstGeom prst="rect">
            <a:avLst/>
          </a:prstGeom>
          <a:noFill/>
          <a:ln/>
        </p:spPr>
        <p:txBody>
          <a:bodyPr wrap="square" lIns="0" tIns="0" rIns="0" bIns="0" rtlCol="0" anchor="b"/>
          <a:lstStyle/>
          <a:p>
            <a:pPr indent="0" marL="0">
              <a:buNone/>
            </a:pPr>
            <a:r>
              <a:rPr lang="en-US" sz="4000" b="1" dirty="0">
                <a:solidFill>
                  <a:schemeClr val="accent1"/>
                </a:solidFill>
                <a:latin typeface="Cambria" pitchFamily="34" charset="0"/>
                <a:ea typeface="Cambria" pitchFamily="34" charset="-122"/>
                <a:cs typeface="Cambria" pitchFamily="34" charset="-120"/>
              </a:rPr>
              <a:t>0.964</a:t>
            </a:r>
            <a:endParaRPr lang="en-US" sz="4000" dirty="0"/>
          </a:p>
        </p:txBody>
      </p:sp>
      <p:sp>
        <p:nvSpPr>
          <p:cNvPr id="9" name="Stat label 0.964"/>
          <p:cNvSpPr txBox="1"/>
          <p:nvPr/>
        </p:nvSpPr>
        <p:spPr>
          <a:xfrm>
            <a:off x="5897880" y="2450592"/>
            <a:ext cx="2560320" cy="457200"/>
          </a:xfrm>
          <a:prstGeom prst="rect">
            <a:avLst/>
          </a:prstGeom>
          <a:noFill/>
          <a:ln/>
        </p:spPr>
        <p:txBody>
          <a:bodyPr wrap="square" lIns="0" tIns="0" rIns="0" bIns="0" rtlCol="0" anchor="t"/>
          <a:lstStyle/>
          <a:p>
            <a:pPr indent="0" marL="0">
              <a:buNone/>
            </a:pPr>
            <a:r>
              <a:rPr lang="en-US" sz="1400" dirty="0">
                <a:solidFill>
                  <a:schemeClr val="tx1"/>
                </a:solidFill>
              </a:rPr>
              <a:t>macro-F1 (98.0% accuracy), dev set</a:t>
            </a:r>
            <a:endParaRPr lang="en-US" sz="1400" dirty="0"/>
          </a:p>
        </p:txBody>
      </p:sp>
      <p:sp>
        <p:nvSpPr>
          <p:cNvPr id="10" name="Era caveat"/>
          <p:cNvSpPr txBox="1"/>
          <p:nvPr/>
        </p:nvSpPr>
        <p:spPr>
          <a:xfrm>
            <a:off x="5897880" y="3063240"/>
            <a:ext cx="2560320" cy="1371600"/>
          </a:xfrm>
          <a:prstGeom prst="rect">
            <a:avLst/>
          </a:prstGeom>
          <a:noFill/>
          <a:ln/>
        </p:spPr>
        <p:txBody>
          <a:bodyPr wrap="square" lIns="0" tIns="0" rIns="0" bIns="0" rtlCol="0" anchor="t"/>
          <a:lstStyle/>
          <a:p>
            <a:pPr indent="0" marL="0">
              <a:buNone/>
            </a:pPr>
            <a:r>
              <a:rPr lang="en-US" sz="1400" dirty="0">
                <a:solidFill>
                  <a:schemeClr val="tx1"/>
                </a:solidFill>
              </a:rPr>
              <a:t>83% of pieces are Romantic, so accuracy alone flatters. Intervals alone reach 0.893 macro-F1.</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4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Part tag"/>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200" kern="0" dirty="0">
                <a:solidFill>
                  <a:schemeClr val="accent2"/>
                </a:solidFill>
              </a:rPr>
              <a:t>PART 2  ·  DEEP LEARNING</a:t>
            </a:r>
            <a:endParaRPr lang="en-US" sz="1100" dirty="0"/>
          </a:p>
        </p:txBody>
      </p:sp>
      <p:sp>
        <p:nvSpPr>
          <p:cNvPr id="3" name="Text 0"/>
          <p:cNvSpPr/>
          <p:nvPr>
            <p:ph idx="100" type="title" hasCustomPrompt="1"/>
          </p:nvPr>
        </p:nvSpPr>
        <p:spPr>
          <a:xfrm>
            <a:off x="457200" y="5029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Part 2: two neural approaches</a:t>
            </a:r>
            <a:endParaRPr lang="en-US" sz="3200" dirty="0"/>
          </a:p>
        </p:txBody>
      </p:sp>
      <p:sp>
        <p:nvSpPr>
          <p:cNvPr id="4" name="MIDI box"/>
          <p:cNvSpPr txBox="1"/>
          <p:nvPr/>
        </p:nvSpPr>
        <p:spPr>
          <a:xfrm>
            <a:off x="457200" y="1325880"/>
            <a:ext cx="1188720" cy="2788920"/>
          </a:xfrm>
          <a:prstGeom prst="roundRect">
            <a:avLst>
              <a:gd name="adj" fmla="val 9231"/>
            </a:avLst>
          </a:prstGeom>
          <a:solidFill>
            <a:schemeClr val="tx1"/>
          </a:solidFill>
          <a:ln/>
        </p:spPr>
        <p:txBody>
          <a:bodyPr wrap="square" rtlCol="0" anchor="ctr"/>
          <a:lstStyle/>
          <a:p>
            <a:pPr algn="ctr" indent="0" marL="0">
              <a:buNone/>
            </a:pPr>
            <a:r>
              <a:rPr lang="en-US" sz="1600" b="1" dirty="0">
                <a:solidFill>
                  <a:schemeClr val="bg1"/>
                </a:solidFill>
              </a:rPr>
              <a:t>MIDI files</a:t>
            </a:r>
            <a:endParaRPr lang="en-US" sz="1600" dirty="0"/>
          </a:p>
        </p:txBody>
      </p:sp>
      <p:sp>
        <p:nvSpPr>
          <p:cNvPr id="5" name="Arrow in 0"/>
          <p:cNvSpPr/>
          <p:nvPr/>
        </p:nvSpPr>
        <p:spPr>
          <a:xfrm>
            <a:off x="1691640" y="1920240"/>
            <a:ext cx="594360" cy="0"/>
          </a:xfrm>
          <a:prstGeom prst="line">
            <a:avLst/>
          </a:prstGeom>
          <a:noFill/>
          <a:ln w="25400">
            <a:solidFill>
              <a:srgbClr val="5C5470"/>
            </a:solidFill>
            <a:prstDash val="solid"/>
            <a:tailEnd type="triangle"/>
          </a:ln>
        </p:spPr>
      </p:sp>
      <p:sp>
        <p:nvSpPr>
          <p:cNvPr id="6" name="Input 0"/>
          <p:cNvSpPr/>
          <p:nvPr/>
        </p:nvSpPr>
        <p:spPr>
          <a:xfrm>
            <a:off x="2331720" y="1325880"/>
            <a:ext cx="2194560" cy="1188720"/>
          </a:xfrm>
          <a:prstGeom prst="roundRect">
            <a:avLst>
              <a:gd name="adj" fmla="val 9231"/>
            </a:avLst>
          </a:prstGeom>
          <a:solidFill>
            <a:schemeClr val="bg2"/>
          </a:solidFill>
          <a:ln/>
        </p:spPr>
      </p:sp>
      <p:sp>
        <p:nvSpPr>
          <p:cNvPr id="7" name="Input title 0"/>
          <p:cNvSpPr txBox="1"/>
          <p:nvPr/>
        </p:nvSpPr>
        <p:spPr>
          <a:xfrm>
            <a:off x="2468880" y="1490472"/>
            <a:ext cx="1920240" cy="411480"/>
          </a:xfrm>
          <a:prstGeom prst="rect">
            <a:avLst/>
          </a:prstGeom>
          <a:noFill/>
          <a:ln/>
        </p:spPr>
        <p:txBody>
          <a:bodyPr wrap="square" lIns="0" tIns="0" rIns="0" bIns="0" rtlCol="0" anchor="ctr"/>
          <a:lstStyle/>
          <a:p>
            <a:pPr indent="0" marL="0">
              <a:buNone/>
            </a:pPr>
            <a:r>
              <a:rPr lang="en-US" sz="1600" b="1" dirty="0">
                <a:solidFill>
                  <a:schemeClr val="tx1"/>
                </a:solidFill>
              </a:rPr>
              <a:t>78 features</a:t>
            </a:r>
            <a:endParaRPr lang="en-US" sz="1600" dirty="0"/>
          </a:p>
        </p:txBody>
      </p:sp>
      <p:sp>
        <p:nvSpPr>
          <p:cNvPr id="8" name="Input sub 0"/>
          <p:cNvSpPr txBox="1"/>
          <p:nvPr/>
        </p:nvSpPr>
        <p:spPr>
          <a:xfrm>
            <a:off x="2468880" y="1947672"/>
            <a:ext cx="1920240" cy="411480"/>
          </a:xfrm>
          <a:prstGeom prst="rect">
            <a:avLst/>
          </a:prstGeom>
          <a:noFill/>
          <a:ln/>
        </p:spPr>
        <p:txBody>
          <a:bodyPr wrap="square" lIns="0" tIns="0" rIns="0" bIns="0" rtlCol="0" anchor="t"/>
          <a:lstStyle/>
          <a:p>
            <a:pPr indent="0" marL="0">
              <a:buNone/>
            </a:pPr>
            <a:r>
              <a:rPr lang="en-US" sz="1400" dirty="0">
                <a:solidFill>
                  <a:schemeClr val="tx2"/>
                </a:solidFill>
              </a:rPr>
              <a:t>same as Part 1, scaled</a:t>
            </a:r>
            <a:endParaRPr lang="en-US" sz="1400" dirty="0"/>
          </a:p>
        </p:txBody>
      </p:sp>
      <p:sp>
        <p:nvSpPr>
          <p:cNvPr id="9" name="Arrow model 0"/>
          <p:cNvSpPr/>
          <p:nvPr/>
        </p:nvSpPr>
        <p:spPr>
          <a:xfrm>
            <a:off x="4572000" y="1920240"/>
            <a:ext cx="502920" cy="0"/>
          </a:xfrm>
          <a:prstGeom prst="line">
            <a:avLst/>
          </a:prstGeom>
          <a:noFill/>
          <a:ln w="25400">
            <a:solidFill>
              <a:srgbClr val="5C5470"/>
            </a:solidFill>
            <a:prstDash val="solid"/>
            <a:tailEnd type="triangle"/>
          </a:ln>
        </p:spPr>
      </p:sp>
      <p:sp>
        <p:nvSpPr>
          <p:cNvPr id="10" name="Model 0"/>
          <p:cNvSpPr/>
          <p:nvPr/>
        </p:nvSpPr>
        <p:spPr>
          <a:xfrm>
            <a:off x="5120640" y="1325880"/>
            <a:ext cx="3566160" cy="1188720"/>
          </a:xfrm>
          <a:prstGeom prst="roundRect">
            <a:avLst>
              <a:gd name="adj" fmla="val 9231"/>
            </a:avLst>
          </a:prstGeom>
          <a:solidFill>
            <a:schemeClr val="accent2"/>
          </a:solidFill>
          <a:ln/>
        </p:spPr>
      </p:sp>
      <p:sp>
        <p:nvSpPr>
          <p:cNvPr id="11" name="Model title 0"/>
          <p:cNvSpPr txBox="1"/>
          <p:nvPr/>
        </p:nvSpPr>
        <p:spPr>
          <a:xfrm>
            <a:off x="5303520" y="1463040"/>
            <a:ext cx="3200400" cy="457200"/>
          </a:xfrm>
          <a:prstGeom prst="rect">
            <a:avLst/>
          </a:prstGeom>
          <a:noFill/>
          <a:ln/>
        </p:spPr>
        <p:txBody>
          <a:bodyPr wrap="square" lIns="0" tIns="0" rIns="0" bIns="0" rtlCol="0" anchor="ctr"/>
          <a:lstStyle/>
          <a:p>
            <a:pPr indent="0" marL="0">
              <a:buNone/>
            </a:pPr>
            <a:r>
              <a:rPr lang="en-US" sz="1600" b="1" dirty="0">
                <a:solidFill>
                  <a:schemeClr val="bg1"/>
                </a:solidFill>
              </a:rPr>
              <a:t>Fully connected NN</a:t>
            </a:r>
            <a:endParaRPr lang="en-US" sz="1600" dirty="0"/>
          </a:p>
        </p:txBody>
      </p:sp>
      <p:sp>
        <p:nvSpPr>
          <p:cNvPr id="12" name="Model sub 0"/>
          <p:cNvSpPr txBox="1"/>
          <p:nvPr/>
        </p:nvSpPr>
        <p:spPr>
          <a:xfrm>
            <a:off x="5303520" y="1965960"/>
            <a:ext cx="3200400" cy="411480"/>
          </a:xfrm>
          <a:prstGeom prst="rect">
            <a:avLst/>
          </a:prstGeom>
          <a:noFill/>
          <a:ln/>
        </p:spPr>
        <p:txBody>
          <a:bodyPr wrap="square" lIns="0" tIns="0" rIns="0" bIns="0" rtlCol="0" anchor="t"/>
          <a:lstStyle/>
          <a:p>
            <a:pPr indent="0" marL="0">
              <a:buNone/>
            </a:pPr>
            <a:r>
              <a:rPr lang="en-US" sz="1400" dirty="0">
                <a:solidFill>
                  <a:schemeClr val="bg1"/>
                </a:solidFill>
              </a:rPr>
              <a:t>1 hidden layer, 128 units, dropout 0.3</a:t>
            </a:r>
            <a:endParaRPr lang="en-US" sz="1400" dirty="0"/>
          </a:p>
        </p:txBody>
      </p:sp>
      <p:sp>
        <p:nvSpPr>
          <p:cNvPr id="13" name="Arrow in 1"/>
          <p:cNvSpPr/>
          <p:nvPr/>
        </p:nvSpPr>
        <p:spPr>
          <a:xfrm>
            <a:off x="1691640" y="3520440"/>
            <a:ext cx="594360" cy="0"/>
          </a:xfrm>
          <a:prstGeom prst="line">
            <a:avLst/>
          </a:prstGeom>
          <a:noFill/>
          <a:ln w="25400">
            <a:solidFill>
              <a:srgbClr val="5C5470"/>
            </a:solidFill>
            <a:prstDash val="solid"/>
            <a:tailEnd type="triangle"/>
          </a:ln>
        </p:spPr>
      </p:sp>
      <p:sp>
        <p:nvSpPr>
          <p:cNvPr id="14" name="Input 1"/>
          <p:cNvSpPr/>
          <p:nvPr/>
        </p:nvSpPr>
        <p:spPr>
          <a:xfrm>
            <a:off x="2331720" y="2926080"/>
            <a:ext cx="2194560" cy="1188720"/>
          </a:xfrm>
          <a:prstGeom prst="roundRect">
            <a:avLst>
              <a:gd name="adj" fmla="val 9231"/>
            </a:avLst>
          </a:prstGeom>
          <a:solidFill>
            <a:schemeClr val="bg2"/>
          </a:solidFill>
          <a:ln/>
        </p:spPr>
      </p:sp>
      <p:sp>
        <p:nvSpPr>
          <p:cNvPr id="15" name="Input title 1"/>
          <p:cNvSpPr txBox="1"/>
          <p:nvPr/>
        </p:nvSpPr>
        <p:spPr>
          <a:xfrm>
            <a:off x="2468880" y="3090672"/>
            <a:ext cx="1920240" cy="411480"/>
          </a:xfrm>
          <a:prstGeom prst="rect">
            <a:avLst/>
          </a:prstGeom>
          <a:noFill/>
          <a:ln/>
        </p:spPr>
        <p:txBody>
          <a:bodyPr wrap="square" lIns="0" tIns="0" rIns="0" bIns="0" rtlCol="0" anchor="ctr"/>
          <a:lstStyle/>
          <a:p>
            <a:pPr indent="0" marL="0">
              <a:buNone/>
            </a:pPr>
            <a:r>
              <a:rPr lang="en-US" sz="1600" b="1" dirty="0">
                <a:solidFill>
                  <a:schemeClr val="tx1"/>
                </a:solidFill>
              </a:rPr>
              <a:t>64 × 1536 piano roll</a:t>
            </a:r>
            <a:endParaRPr lang="en-US" sz="1600" dirty="0"/>
          </a:p>
        </p:txBody>
      </p:sp>
      <p:sp>
        <p:nvSpPr>
          <p:cNvPr id="16" name="Input sub 1"/>
          <p:cNvSpPr txBox="1"/>
          <p:nvPr/>
        </p:nvSpPr>
        <p:spPr>
          <a:xfrm>
            <a:off x="2468880" y="3547872"/>
            <a:ext cx="1920240" cy="411480"/>
          </a:xfrm>
          <a:prstGeom prst="rect">
            <a:avLst/>
          </a:prstGeom>
          <a:noFill/>
          <a:ln/>
        </p:spPr>
        <p:txBody>
          <a:bodyPr wrap="square" lIns="0" tIns="0" rIns="0" bIns="0" rtlCol="0" anchor="t"/>
          <a:lstStyle/>
          <a:p>
            <a:pPr indent="0" marL="0">
              <a:buNone/>
            </a:pPr>
            <a:r>
              <a:rPr lang="en-US" sz="1400" dirty="0">
                <a:solidFill>
                  <a:schemeClr val="tx2"/>
                </a:solidFill>
              </a:rPr>
              <a:t>10 Hz, first 153.6 s</a:t>
            </a:r>
            <a:endParaRPr lang="en-US" sz="1400" dirty="0"/>
          </a:p>
        </p:txBody>
      </p:sp>
      <p:sp>
        <p:nvSpPr>
          <p:cNvPr id="17" name="Arrow model 1"/>
          <p:cNvSpPr/>
          <p:nvPr/>
        </p:nvSpPr>
        <p:spPr>
          <a:xfrm>
            <a:off x="4572000" y="3520440"/>
            <a:ext cx="502920" cy="0"/>
          </a:xfrm>
          <a:prstGeom prst="line">
            <a:avLst/>
          </a:prstGeom>
          <a:noFill/>
          <a:ln w="25400">
            <a:solidFill>
              <a:srgbClr val="5C5470"/>
            </a:solidFill>
            <a:prstDash val="solid"/>
            <a:tailEnd type="triangle"/>
          </a:ln>
        </p:spPr>
      </p:sp>
      <p:sp>
        <p:nvSpPr>
          <p:cNvPr id="18" name="Model 1"/>
          <p:cNvSpPr/>
          <p:nvPr/>
        </p:nvSpPr>
        <p:spPr>
          <a:xfrm>
            <a:off x="5120640" y="2926080"/>
            <a:ext cx="3566160" cy="1188720"/>
          </a:xfrm>
          <a:prstGeom prst="roundRect">
            <a:avLst>
              <a:gd name="adj" fmla="val 9231"/>
            </a:avLst>
          </a:prstGeom>
          <a:solidFill>
            <a:schemeClr val="accent2"/>
          </a:solidFill>
          <a:ln/>
        </p:spPr>
      </p:sp>
      <p:sp>
        <p:nvSpPr>
          <p:cNvPr id="19" name="Model title 1"/>
          <p:cNvSpPr txBox="1"/>
          <p:nvPr/>
        </p:nvSpPr>
        <p:spPr>
          <a:xfrm>
            <a:off x="5303520" y="3063240"/>
            <a:ext cx="3200400" cy="457200"/>
          </a:xfrm>
          <a:prstGeom prst="rect">
            <a:avLst/>
          </a:prstGeom>
          <a:noFill/>
          <a:ln/>
        </p:spPr>
        <p:txBody>
          <a:bodyPr wrap="square" lIns="0" tIns="0" rIns="0" bIns="0" rtlCol="0" anchor="ctr"/>
          <a:lstStyle/>
          <a:p>
            <a:pPr indent="0" marL="0">
              <a:buNone/>
            </a:pPr>
            <a:r>
              <a:rPr lang="en-US" sz="1600" b="1" dirty="0">
                <a:solidFill>
                  <a:schemeClr val="bg1"/>
                </a:solidFill>
              </a:rPr>
              <a:t>CNN, with and without augmentation</a:t>
            </a:r>
            <a:endParaRPr lang="en-US" sz="1600" dirty="0"/>
          </a:p>
        </p:txBody>
      </p:sp>
      <p:sp>
        <p:nvSpPr>
          <p:cNvPr id="20" name="Model sub 1"/>
          <p:cNvSpPr txBox="1"/>
          <p:nvPr/>
        </p:nvSpPr>
        <p:spPr>
          <a:xfrm>
            <a:off x="5303520" y="3566160"/>
            <a:ext cx="3200400" cy="411480"/>
          </a:xfrm>
          <a:prstGeom prst="rect">
            <a:avLst/>
          </a:prstGeom>
          <a:noFill/>
          <a:ln/>
        </p:spPr>
        <p:txBody>
          <a:bodyPr wrap="square" lIns="0" tIns="0" rIns="0" bIns="0" rtlCol="0" anchor="t"/>
          <a:lstStyle/>
          <a:p>
            <a:pPr indent="0" marL="0">
              <a:buNone/>
            </a:pPr>
            <a:r>
              <a:rPr lang="en-US" sz="1400" dirty="0">
                <a:solidFill>
                  <a:schemeClr val="bg1"/>
                </a:solidFill>
              </a:rPr>
              <a:t>5 conv blocks, global avg pool, dropout 0.5</a:t>
            </a:r>
            <a:endParaRPr lang="en-US" sz="1400" dirty="0"/>
          </a:p>
        </p:txBody>
      </p:sp>
      <p:sp>
        <p:nvSpPr>
          <p:cNvPr id="21" name="Augmentation note"/>
          <p:cNvSpPr txBox="1"/>
          <p:nvPr/>
        </p:nvSpPr>
        <p:spPr>
          <a:xfrm>
            <a:off x="2331720" y="4224528"/>
            <a:ext cx="6355080" cy="320040"/>
          </a:xfrm>
          <a:prstGeom prst="rect">
            <a:avLst/>
          </a:prstGeom>
          <a:noFill/>
          <a:ln/>
        </p:spPr>
        <p:txBody>
          <a:bodyPr wrap="square" lIns="0" tIns="0" rIns="0" bIns="0" rtlCol="0" anchor="ctr"/>
          <a:lstStyle/>
          <a:p>
            <a:pPr indent="0" marL="0">
              <a:buNone/>
            </a:pPr>
            <a:r>
              <a:rPr lang="en-US" sz="1400" i="1" dirty="0">
                <a:solidFill>
                  <a:schemeClr val="tx2"/>
                </a:solidFill>
              </a:rPr>
              <a:t>Augmentation: transpose ±6 semitones, shift ±15 s, mask up to 20 s</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4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Part tag"/>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200" kern="0" dirty="0">
                <a:solidFill>
                  <a:schemeClr val="accent2"/>
                </a:solidFill>
              </a:rPr>
              <a:t>PART 2  ·  DEEP LEARNING</a:t>
            </a:r>
            <a:endParaRPr lang="en-US" sz="1100" dirty="0"/>
          </a:p>
        </p:txBody>
      </p:sp>
      <p:sp>
        <p:nvSpPr>
          <p:cNvPr id="3" name="Text 0"/>
          <p:cNvSpPr/>
          <p:nvPr>
            <p:ph idx="100" type="title" hasCustomPrompt="1"/>
          </p:nvPr>
        </p:nvSpPr>
        <p:spPr>
          <a:xfrm>
            <a:off x="457200" y="5029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Features beat raw piano rolls</a:t>
            </a:r>
            <a:endParaRPr lang="en-US" sz="3200" dirty="0"/>
          </a:p>
        </p:txBody>
      </p:sp>
      <p:graphicFrame>
        <p:nvGraphicFramePr>
          <p:cNvPr id="4" name="Chart 0" descr=""/>
          <p:cNvGraphicFramePr/>
          <p:nvPr/>
        </p:nvGraphicFramePr>
        <p:xfrm>
          <a:off x="457200" y="1234440"/>
          <a:ext cx="5669280" cy="3108960"/>
        </p:xfrm>
        <a:graphic xmlns:a="http://schemas.openxmlformats.org/drawingml/2006/main">
          <a:graphicData uri="http://schemas.openxmlformats.org/drawingml/2006/chart">
            <c:chart xmlns:c="http://schemas.openxmlformats.org/drawingml/2006/chart" r:id="rId1"/>
          </a:graphicData>
        </a:graphic>
      </p:graphicFrame>
      <p:sp>
        <p:nvSpPr>
          <p:cNvPr id="5" name="Chart note"/>
          <p:cNvSpPr txBox="1"/>
          <p:nvPr/>
        </p:nvSpPr>
        <p:spPr>
          <a:xfrm>
            <a:off x="457200" y="4389120"/>
            <a:ext cx="5669280" cy="274320"/>
          </a:xfrm>
          <a:prstGeom prst="rect">
            <a:avLst/>
          </a:prstGeom>
          <a:noFill/>
          <a:ln/>
        </p:spPr>
        <p:txBody>
          <a:bodyPr wrap="square" lIns="0" tIns="0" rIns="0" bIns="0" rtlCol="0" anchor="ctr"/>
          <a:lstStyle/>
          <a:p>
            <a:pPr indent="0" marL="0">
              <a:buNone/>
            </a:pPr>
            <a:r>
              <a:rPr lang="en-US" sz="1000" dirty="0">
                <a:solidFill>
                  <a:schemeClr val="tx2"/>
                </a:solidFill>
              </a:rPr>
              <a:t>FCNN and Logistic Regression use the 78 features; the CNNs use piano rolls.</a:t>
            </a:r>
            <a:endParaRPr lang="en-US" sz="1000" dirty="0"/>
          </a:p>
        </p:txBody>
      </p:sp>
      <p:sp>
        <p:nvSpPr>
          <p:cNvPr id="6" name="Best card"/>
          <p:cNvSpPr/>
          <p:nvPr/>
        </p:nvSpPr>
        <p:spPr>
          <a:xfrm>
            <a:off x="6400800" y="1280160"/>
            <a:ext cx="2286000" cy="3291840"/>
          </a:xfrm>
          <a:prstGeom prst="roundRect">
            <a:avLst>
              <a:gd name="adj" fmla="val 4800"/>
            </a:avLst>
          </a:prstGeom>
          <a:solidFill>
            <a:schemeClr val="bg2"/>
          </a:solidFill>
          <a:ln/>
        </p:spPr>
      </p:sp>
      <p:sp>
        <p:nvSpPr>
          <p:cNvPr id="7" name="Stat 51.0%"/>
          <p:cNvSpPr txBox="1"/>
          <p:nvPr/>
        </p:nvSpPr>
        <p:spPr>
          <a:xfrm>
            <a:off x="6583680" y="1417320"/>
            <a:ext cx="1920240" cy="685800"/>
          </a:xfrm>
          <a:prstGeom prst="rect">
            <a:avLst/>
          </a:prstGeom>
          <a:noFill/>
          <a:ln/>
        </p:spPr>
        <p:txBody>
          <a:bodyPr wrap="square" lIns="0" tIns="0" rIns="0" bIns="0" rtlCol="0" anchor="b"/>
          <a:lstStyle/>
          <a:p>
            <a:pPr indent="0" marL="0">
              <a:buNone/>
            </a:pPr>
            <a:r>
              <a:rPr lang="en-US" sz="4000" b="1" dirty="0">
                <a:solidFill>
                  <a:schemeClr val="accent2"/>
                </a:solidFill>
                <a:latin typeface="Cambria" pitchFamily="34" charset="0"/>
                <a:ea typeface="Cambria" pitchFamily="34" charset="-122"/>
                <a:cs typeface="Cambria" pitchFamily="34" charset="-120"/>
              </a:rPr>
              <a:t>51.0%</a:t>
            </a:r>
            <a:endParaRPr lang="en-US" sz="4000" dirty="0"/>
          </a:p>
        </p:txBody>
      </p:sp>
      <p:sp>
        <p:nvSpPr>
          <p:cNvPr id="8" name="Stat label 51.0%"/>
          <p:cNvSpPr txBox="1"/>
          <p:nvPr/>
        </p:nvSpPr>
        <p:spPr>
          <a:xfrm>
            <a:off x="6583680" y="2130552"/>
            <a:ext cx="1920240" cy="457200"/>
          </a:xfrm>
          <a:prstGeom prst="rect">
            <a:avLst/>
          </a:prstGeom>
          <a:noFill/>
          <a:ln/>
        </p:spPr>
        <p:txBody>
          <a:bodyPr wrap="square" lIns="0" tIns="0" rIns="0" bIns="0" rtlCol="0" anchor="t"/>
          <a:lstStyle/>
          <a:p>
            <a:pPr indent="0" marL="0">
              <a:buNone/>
            </a:pPr>
            <a:r>
              <a:rPr lang="en-US" sz="1400" dirty="0">
                <a:solidFill>
                  <a:schemeClr val="tx1"/>
                </a:solidFill>
              </a:rPr>
              <a:t>FCNN accuracy, 25 of 49 pieces</a:t>
            </a:r>
            <a:endParaRPr lang="en-US" sz="1400" dirty="0"/>
          </a:p>
        </p:txBody>
      </p:sp>
      <p:sp>
        <p:nvSpPr>
          <p:cNvPr id="9" name="Stat 18.4%"/>
          <p:cNvSpPr txBox="1"/>
          <p:nvPr/>
        </p:nvSpPr>
        <p:spPr>
          <a:xfrm>
            <a:off x="6583680" y="2743200"/>
            <a:ext cx="1920240" cy="685800"/>
          </a:xfrm>
          <a:prstGeom prst="rect">
            <a:avLst/>
          </a:prstGeom>
          <a:noFill/>
          <a:ln/>
        </p:spPr>
        <p:txBody>
          <a:bodyPr wrap="square" lIns="0" tIns="0" rIns="0" bIns="0" rtlCol="0" anchor="b"/>
          <a:lstStyle/>
          <a:p>
            <a:pPr indent="0" marL="0">
              <a:buNone/>
            </a:pPr>
            <a:r>
              <a:rPr lang="en-US" sz="4000" b="1" dirty="0">
                <a:solidFill>
                  <a:schemeClr val="accent6"/>
                </a:solidFill>
                <a:latin typeface="Cambria" pitchFamily="34" charset="0"/>
                <a:ea typeface="Cambria" pitchFamily="34" charset="-122"/>
                <a:cs typeface="Cambria" pitchFamily="34" charset="-120"/>
              </a:rPr>
              <a:t>18.4%</a:t>
            </a:r>
            <a:endParaRPr lang="en-US" sz="4000" dirty="0"/>
          </a:p>
        </p:txBody>
      </p:sp>
      <p:sp>
        <p:nvSpPr>
          <p:cNvPr id="10" name="Stat label 18.4%"/>
          <p:cNvSpPr txBox="1"/>
          <p:nvPr/>
        </p:nvSpPr>
        <p:spPr>
          <a:xfrm>
            <a:off x="6583680" y="3456432"/>
            <a:ext cx="1920240" cy="457200"/>
          </a:xfrm>
          <a:prstGeom prst="rect">
            <a:avLst/>
          </a:prstGeom>
          <a:noFill/>
          <a:ln/>
        </p:spPr>
        <p:txBody>
          <a:bodyPr wrap="square" lIns="0" tIns="0" rIns="0" bIns="0" rtlCol="0" anchor="t"/>
          <a:lstStyle/>
          <a:p>
            <a:pPr indent="0" marL="0">
              <a:buNone/>
            </a:pPr>
            <a:r>
              <a:rPr lang="en-US" sz="1400" dirty="0">
                <a:solidFill>
                  <a:schemeClr val="tx1"/>
                </a:solidFill>
              </a:rPr>
              <a:t>majority-class baseline, the same as the plain CNN</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4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Part tag"/>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200" kern="0" dirty="0">
                <a:solidFill>
                  <a:schemeClr val="accent2"/>
                </a:solidFill>
              </a:rPr>
              <a:t>PART 2  ·  DEEP LEARNING</a:t>
            </a:r>
            <a:endParaRPr lang="en-US" sz="1100" dirty="0"/>
          </a:p>
        </p:txBody>
      </p:sp>
      <p:sp>
        <p:nvSpPr>
          <p:cNvPr id="3" name="Text 0"/>
          <p:cNvSpPr/>
          <p:nvPr>
            <p:ph idx="100" type="title" hasCustomPrompt="1"/>
          </p:nvPr>
        </p:nvSpPr>
        <p:spPr>
          <a:xfrm>
            <a:off x="457200" y="5029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What the numbers do and don't say</a:t>
            </a:r>
            <a:endParaRPr lang="en-US" sz="3200" dirty="0"/>
          </a:p>
        </p:txBody>
      </p:sp>
      <p:sp>
        <p:nvSpPr>
          <p:cNvPr id="4" name="Num 1"/>
          <p:cNvSpPr txBox="1"/>
          <p:nvPr/>
        </p:nvSpPr>
        <p:spPr>
          <a:xfrm>
            <a:off x="457200" y="1371600"/>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Point head 1"/>
          <p:cNvSpPr txBox="1"/>
          <p:nvPr/>
        </p:nvSpPr>
        <p:spPr>
          <a:xfrm>
            <a:off x="1097280" y="1325880"/>
            <a:ext cx="7589520" cy="292608"/>
          </a:xfrm>
          <a:prstGeom prst="rect">
            <a:avLst/>
          </a:prstGeom>
          <a:noFill/>
          <a:ln/>
        </p:spPr>
        <p:txBody>
          <a:bodyPr wrap="square" lIns="0" tIns="0" rIns="0" bIns="0" rtlCol="0" anchor="ctr"/>
          <a:lstStyle/>
          <a:p>
            <a:pPr indent="0" marL="0">
              <a:buNone/>
            </a:pPr>
            <a:r>
              <a:rPr lang="en-US" sz="1600" b="1" dirty="0">
                <a:solidFill>
                  <a:schemeClr val="tx1"/>
                </a:solidFill>
              </a:rPr>
              <a:t>A CNN is starved at this data size</a:t>
            </a:r>
            <a:endParaRPr lang="en-US" sz="1600" dirty="0"/>
          </a:p>
        </p:txBody>
      </p:sp>
      <p:sp>
        <p:nvSpPr>
          <p:cNvPr id="6" name="Point body 1"/>
          <p:cNvSpPr txBox="1"/>
          <p:nvPr/>
        </p:nvSpPr>
        <p:spPr>
          <a:xfrm>
            <a:off x="1097280" y="1618488"/>
            <a:ext cx="7589520" cy="457200"/>
          </a:xfrm>
          <a:prstGeom prst="rect">
            <a:avLst/>
          </a:prstGeom>
          <a:noFill/>
          <a:ln/>
        </p:spPr>
        <p:txBody>
          <a:bodyPr wrap="square" lIns="0" tIns="0" rIns="0" bIns="0" rtlCol="0" anchor="t"/>
          <a:lstStyle/>
          <a:p>
            <a:pPr indent="0" marL="0">
              <a:buNone/>
            </a:pPr>
            <a:r>
              <a:rPr lang="en-US" sz="1400" dirty="0">
                <a:solidFill>
                  <a:schemeClr val="tx2"/>
                </a:solidFill>
              </a:rPr>
              <a:t>Features already encode intervals and pitch-class use; the CNN must learn them from 147 pieces.</a:t>
            </a:r>
            <a:endParaRPr lang="en-US" sz="1400" dirty="0"/>
          </a:p>
        </p:txBody>
      </p:sp>
      <p:sp>
        <p:nvSpPr>
          <p:cNvPr id="7" name="Num 2"/>
          <p:cNvSpPr txBox="1"/>
          <p:nvPr/>
        </p:nvSpPr>
        <p:spPr>
          <a:xfrm>
            <a:off x="457200" y="2176272"/>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Point head 2"/>
          <p:cNvSpPr txBox="1"/>
          <p:nvPr/>
        </p:nvSpPr>
        <p:spPr>
          <a:xfrm>
            <a:off x="1097280" y="2130552"/>
            <a:ext cx="7589520" cy="292608"/>
          </a:xfrm>
          <a:prstGeom prst="rect">
            <a:avLst/>
          </a:prstGeom>
          <a:noFill/>
          <a:ln/>
        </p:spPr>
        <p:txBody>
          <a:bodyPr wrap="square" lIns="0" tIns="0" rIns="0" bIns="0" rtlCol="0" anchor="ctr"/>
          <a:lstStyle/>
          <a:p>
            <a:pPr indent="0" marL="0">
              <a:buNone/>
            </a:pPr>
            <a:r>
              <a:rPr lang="en-US" sz="1600" b="1" dirty="0">
                <a:solidFill>
                  <a:schemeClr val="tx1"/>
                </a:solidFill>
              </a:rPr>
              <a:t>No augmentation: no better than guessing</a:t>
            </a:r>
            <a:endParaRPr lang="en-US" sz="1600" dirty="0"/>
          </a:p>
        </p:txBody>
      </p:sp>
      <p:sp>
        <p:nvSpPr>
          <p:cNvPr id="9" name="Point body 2"/>
          <p:cNvSpPr txBox="1"/>
          <p:nvPr/>
        </p:nvSpPr>
        <p:spPr>
          <a:xfrm>
            <a:off x="1097280" y="2423160"/>
            <a:ext cx="7589520" cy="457200"/>
          </a:xfrm>
          <a:prstGeom prst="rect">
            <a:avLst/>
          </a:prstGeom>
          <a:noFill/>
          <a:ln/>
        </p:spPr>
        <p:txBody>
          <a:bodyPr wrap="square" lIns="0" tIns="0" rIns="0" bIns="0" rtlCol="0" anchor="t"/>
          <a:lstStyle/>
          <a:p>
            <a:pPr indent="0" marL="0">
              <a:buNone/>
            </a:pPr>
            <a:r>
              <a:rPr lang="en-US" sz="1400" dirty="0">
                <a:solidFill>
                  <a:schemeClr val="tx2"/>
                </a:solidFill>
              </a:rPr>
              <a:t>9 of 49 correct, the same as the majority-class baseline.</a:t>
            </a:r>
            <a:endParaRPr lang="en-US" sz="1400" dirty="0"/>
          </a:p>
        </p:txBody>
      </p:sp>
      <p:sp>
        <p:nvSpPr>
          <p:cNvPr id="10" name="Num 3"/>
          <p:cNvSpPr txBox="1"/>
          <p:nvPr/>
        </p:nvSpPr>
        <p:spPr>
          <a:xfrm>
            <a:off x="457200" y="2980944"/>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Point head 3"/>
          <p:cNvSpPr txBox="1"/>
          <p:nvPr/>
        </p:nvSpPr>
        <p:spPr>
          <a:xfrm>
            <a:off x="1097280" y="2935224"/>
            <a:ext cx="7589520" cy="292608"/>
          </a:xfrm>
          <a:prstGeom prst="rect">
            <a:avLst/>
          </a:prstGeom>
          <a:noFill/>
          <a:ln/>
        </p:spPr>
        <p:txBody>
          <a:bodyPr wrap="square" lIns="0" tIns="0" rIns="0" bIns="0" rtlCol="0" anchor="ctr"/>
          <a:lstStyle/>
          <a:p>
            <a:pPr indent="0" marL="0">
              <a:buNone/>
            </a:pPr>
            <a:r>
              <a:rPr lang="en-US" sz="1600" b="1" dirty="0">
                <a:solidFill>
                  <a:schemeClr val="tx1"/>
                </a:solidFill>
              </a:rPr>
              <a:t>Augmentation helped, with caution</a:t>
            </a:r>
            <a:endParaRPr lang="en-US" sz="1600" dirty="0"/>
          </a:p>
        </p:txBody>
      </p:sp>
      <p:sp>
        <p:nvSpPr>
          <p:cNvPr id="12" name="Point body 3"/>
          <p:cNvSpPr txBox="1"/>
          <p:nvPr/>
        </p:nvSpPr>
        <p:spPr>
          <a:xfrm>
            <a:off x="1097280" y="3227832"/>
            <a:ext cx="7589520" cy="457200"/>
          </a:xfrm>
          <a:prstGeom prst="rect">
            <a:avLst/>
          </a:prstGeom>
          <a:noFill/>
          <a:ln/>
        </p:spPr>
        <p:txBody>
          <a:bodyPr wrap="square" lIns="0" tIns="0" rIns="0" bIns="0" rtlCol="0" anchor="t"/>
          <a:lstStyle/>
          <a:p>
            <a:pPr indent="0" marL="0">
              <a:buNone/>
            </a:pPr>
            <a:r>
              <a:rPr lang="en-US" sz="1400" dirty="0">
                <a:solidFill>
                  <a:schemeClr val="tx2"/>
                </a:solidFill>
              </a:rPr>
              <a:t>9 to 13 correct, macro-F1 0.133 to 0.293, but dev accuracy was identical and it is one seed.</a:t>
            </a:r>
            <a:endParaRPr lang="en-US" sz="1400" dirty="0"/>
          </a:p>
        </p:txBody>
      </p:sp>
      <p:sp>
        <p:nvSpPr>
          <p:cNvPr id="13" name="Num 4"/>
          <p:cNvSpPr txBox="1"/>
          <p:nvPr/>
        </p:nvSpPr>
        <p:spPr>
          <a:xfrm>
            <a:off x="457200" y="3785616"/>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Point head 4"/>
          <p:cNvSpPr txBox="1"/>
          <p:nvPr/>
        </p:nvSpPr>
        <p:spPr>
          <a:xfrm>
            <a:off x="1097280" y="3739896"/>
            <a:ext cx="7589520" cy="292608"/>
          </a:xfrm>
          <a:prstGeom prst="rect">
            <a:avLst/>
          </a:prstGeom>
          <a:noFill/>
          <a:ln/>
        </p:spPr>
        <p:txBody>
          <a:bodyPr wrap="square" lIns="0" tIns="0" rIns="0" bIns="0" rtlCol="0" anchor="ctr"/>
          <a:lstStyle/>
          <a:p>
            <a:pPr indent="0" marL="0">
              <a:buNone/>
            </a:pPr>
            <a:r>
              <a:rPr lang="en-US" sz="1600" b="1" dirty="0">
                <a:solidFill>
                  <a:schemeClr val="tx1"/>
                </a:solidFill>
              </a:rPr>
              <a:t>FCNN vs. Logistic Regression is a near tie</a:t>
            </a:r>
            <a:endParaRPr lang="en-US" sz="1600" dirty="0"/>
          </a:p>
        </p:txBody>
      </p:sp>
      <p:sp>
        <p:nvSpPr>
          <p:cNvPr id="15" name="Point body 4"/>
          <p:cNvSpPr txBox="1"/>
          <p:nvPr/>
        </p:nvSpPr>
        <p:spPr>
          <a:xfrm>
            <a:off x="1097280" y="4032504"/>
            <a:ext cx="7589520" cy="457200"/>
          </a:xfrm>
          <a:prstGeom prst="rect">
            <a:avLst/>
          </a:prstGeom>
          <a:noFill/>
          <a:ln/>
        </p:spPr>
        <p:txBody>
          <a:bodyPr wrap="square" lIns="0" tIns="0" rIns="0" bIns="0" rtlCol="0" anchor="t"/>
          <a:lstStyle/>
          <a:p>
            <a:pPr indent="0" marL="0">
              <a:buNone/>
            </a:pPr>
            <a:r>
              <a:rPr lang="en-US" sz="1400" dirty="0">
                <a:solidFill>
                  <a:schemeClr val="tx2"/>
                </a:solidFill>
              </a:rPr>
              <a:t>25 vs. 23 correct, and trained differently: FCNN on train only, LR refit on train + dev.</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4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Part tag"/>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200" kern="0" dirty="0">
                <a:solidFill>
                  <a:schemeClr val="accent2"/>
                </a:solidFill>
              </a:rPr>
              <a:t>PART 2  ·  DEEP LEARNING</a:t>
            </a:r>
            <a:endParaRPr lang="en-US" sz="1100" dirty="0"/>
          </a:p>
        </p:txBody>
      </p:sp>
      <p:sp>
        <p:nvSpPr>
          <p:cNvPr id="3" name="Text 0"/>
          <p:cNvSpPr/>
          <p:nvPr>
            <p:ph idx="100" type="title" hasCustomPrompt="1"/>
          </p:nvPr>
        </p:nvSpPr>
        <p:spPr>
          <a:xfrm>
            <a:off x="457200" y="5029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Demo: try it on a MIDI file</a:t>
            </a:r>
            <a:endParaRPr lang="en-US" sz="3200" dirty="0"/>
          </a:p>
        </p:txBody>
      </p:sp>
      <p:sp>
        <p:nvSpPr>
          <p:cNvPr id="4" name="Roll card"/>
          <p:cNvSpPr/>
          <p:nvPr/>
        </p:nvSpPr>
        <p:spPr>
          <a:xfrm>
            <a:off x="457200" y="1280160"/>
            <a:ext cx="5120640" cy="2240280"/>
          </a:xfrm>
          <a:prstGeom prst="roundRect">
            <a:avLst>
              <a:gd name="adj" fmla="val 4898"/>
            </a:avLst>
          </a:prstGeom>
          <a:solidFill>
            <a:schemeClr val="bg2"/>
          </a:solidFill>
          <a:ln/>
        </p:spPr>
      </p:sp>
      <p:pic>
        <p:nvPicPr>
          <p:cNvPr id="5" name="Piano roll" descr="Piano roll of a Chopin prelude: pitch against time">    </p:cNvPr>
          <p:cNvPicPr>
            <a:picLocks noChangeAspect="1"/>
          </p:cNvPicPr>
          <p:nvPr/>
        </p:nvPicPr>
        <p:blipFill>
          <a:blip r:embed="rId1"/>
          <a:stretch>
            <a:fillRect/>
          </a:stretch>
        </p:blipFill>
        <p:spPr>
          <a:xfrm>
            <a:off x="594360" y="1371600"/>
            <a:ext cx="4846320" cy="1856232"/>
          </a:xfrm>
          <a:prstGeom prst="rect">
            <a:avLst/>
          </a:prstGeom>
        </p:spPr>
      </p:pic>
      <p:sp>
        <p:nvSpPr>
          <p:cNvPr id="6" name="Roll caption"/>
          <p:cNvSpPr txBox="1"/>
          <p:nvPr/>
        </p:nvSpPr>
        <p:spPr>
          <a:xfrm>
            <a:off x="594360" y="3200400"/>
            <a:ext cx="4846320" cy="274320"/>
          </a:xfrm>
          <a:prstGeom prst="rect">
            <a:avLst/>
          </a:prstGeom>
          <a:noFill/>
          <a:ln/>
        </p:spPr>
        <p:txBody>
          <a:bodyPr wrap="square" lIns="0" tIns="0" rIns="0" bIns="0" rtlCol="0" anchor="ctr"/>
          <a:lstStyle/>
          <a:p>
            <a:pPr indent="0" marL="0">
              <a:buNone/>
            </a:pPr>
            <a:r>
              <a:rPr lang="en-US" sz="1000" dirty="0">
                <a:solidFill>
                  <a:schemeClr val="tx2"/>
                </a:solidFill>
              </a:rPr>
              <a:t>What the CNN sees: a 64 × 1536 piano roll (Chopin, chpn-p13)</a:t>
            </a:r>
            <a:endParaRPr lang="en-US" sz="1000" dirty="0"/>
          </a:p>
        </p:txBody>
      </p:sp>
      <p:sp>
        <p:nvSpPr>
          <p:cNvPr id="7" name="Demo caution"/>
          <p:cNvSpPr txBox="1"/>
          <p:nvPr/>
        </p:nvSpPr>
        <p:spPr>
          <a:xfrm>
            <a:off x="457200" y="3749040"/>
            <a:ext cx="5120640" cy="548640"/>
          </a:xfrm>
          <a:prstGeom prst="rect">
            <a:avLst/>
          </a:prstGeom>
          <a:noFill/>
          <a:ln/>
        </p:spPr>
        <p:txBody>
          <a:bodyPr wrap="square" lIns="0" tIns="0" rIns="0" bIns="0" rtlCol="0" anchor="t"/>
          <a:lstStyle/>
          <a:p>
            <a:pPr indent="0" marL="0">
              <a:buNone/>
            </a:pPr>
            <a:r>
              <a:rPr lang="en-US" sz="1400" i="1" dirty="0">
                <a:solidFill>
                  <a:schemeClr val="tx2"/>
                </a:solidFill>
              </a:rPr>
              <a:t>Pieces that were in the training set give optimistic predictions.</a:t>
            </a:r>
            <a:endParaRPr lang="en-US" sz="1400" dirty="0"/>
          </a:p>
        </p:txBody>
      </p:sp>
      <p:sp>
        <p:nvSpPr>
          <p:cNvPr id="8" name="Step num 1"/>
          <p:cNvSpPr txBox="1"/>
          <p:nvPr/>
        </p:nvSpPr>
        <p:spPr>
          <a:xfrm>
            <a:off x="5943600" y="132588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Step head 1"/>
          <p:cNvSpPr txBox="1"/>
          <p:nvPr/>
        </p:nvSpPr>
        <p:spPr>
          <a:xfrm>
            <a:off x="6492240" y="1280160"/>
            <a:ext cx="2194560" cy="292608"/>
          </a:xfrm>
          <a:prstGeom prst="rect">
            <a:avLst/>
          </a:prstGeom>
          <a:noFill/>
          <a:ln/>
        </p:spPr>
        <p:txBody>
          <a:bodyPr wrap="square" lIns="0" tIns="0" rIns="0" bIns="0" rtlCol="0" anchor="ctr"/>
          <a:lstStyle/>
          <a:p>
            <a:pPr indent="0" marL="0">
              <a:buNone/>
            </a:pPr>
            <a:r>
              <a:rPr lang="en-US" sz="1600" b="1" dirty="0">
                <a:solidFill>
                  <a:schemeClr val="tx1"/>
                </a:solidFill>
              </a:rPr>
              <a:t>Pick or upload</a:t>
            </a:r>
            <a:endParaRPr lang="en-US" sz="1600" dirty="0"/>
          </a:p>
        </p:txBody>
      </p:sp>
      <p:sp>
        <p:nvSpPr>
          <p:cNvPr id="10" name="Step body 1"/>
          <p:cNvSpPr txBox="1"/>
          <p:nvPr/>
        </p:nvSpPr>
        <p:spPr>
          <a:xfrm>
            <a:off x="6492240" y="1591056"/>
            <a:ext cx="2194560" cy="685800"/>
          </a:xfrm>
          <a:prstGeom prst="rect">
            <a:avLst/>
          </a:prstGeom>
          <a:noFill/>
          <a:ln/>
        </p:spPr>
        <p:txBody>
          <a:bodyPr wrap="square" lIns="0" tIns="0" rIns="0" bIns="0" rtlCol="0" anchor="t"/>
          <a:lstStyle/>
          <a:p>
            <a:pPr indent="0" marL="0">
              <a:buNone/>
            </a:pPr>
            <a:r>
              <a:rPr lang="en-US" sz="1400" dirty="0">
                <a:solidFill>
                  <a:schemeClr val="tx2"/>
                </a:solidFill>
              </a:rPr>
              <a:t>Choose a dataset piece or upload any .mid file</a:t>
            </a:r>
            <a:endParaRPr lang="en-US" sz="1400" dirty="0"/>
          </a:p>
        </p:txBody>
      </p:sp>
      <p:sp>
        <p:nvSpPr>
          <p:cNvPr id="11" name="Step num 2"/>
          <p:cNvSpPr txBox="1"/>
          <p:nvPr/>
        </p:nvSpPr>
        <p:spPr>
          <a:xfrm>
            <a:off x="5943600" y="242316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Step head 2"/>
          <p:cNvSpPr txBox="1"/>
          <p:nvPr/>
        </p:nvSpPr>
        <p:spPr>
          <a:xfrm>
            <a:off x="6492240" y="2377440"/>
            <a:ext cx="2194560" cy="292608"/>
          </a:xfrm>
          <a:prstGeom prst="rect">
            <a:avLst/>
          </a:prstGeom>
          <a:noFill/>
          <a:ln/>
        </p:spPr>
        <p:txBody>
          <a:bodyPr wrap="square" lIns="0" tIns="0" rIns="0" bIns="0" rtlCol="0" anchor="ctr"/>
          <a:lstStyle/>
          <a:p>
            <a:pPr indent="0" marL="0">
              <a:buNone/>
            </a:pPr>
            <a:r>
              <a:rPr lang="en-US" sz="1600" b="1" dirty="0">
                <a:solidFill>
                  <a:schemeClr val="tx1"/>
                </a:solidFill>
              </a:rPr>
              <a:t>See the prediction</a:t>
            </a:r>
            <a:endParaRPr lang="en-US" sz="1600" dirty="0"/>
          </a:p>
        </p:txBody>
      </p:sp>
      <p:sp>
        <p:nvSpPr>
          <p:cNvPr id="13" name="Step body 2"/>
          <p:cNvSpPr txBox="1"/>
          <p:nvPr/>
        </p:nvSpPr>
        <p:spPr>
          <a:xfrm>
            <a:off x="6492240" y="2688336"/>
            <a:ext cx="2194560" cy="685800"/>
          </a:xfrm>
          <a:prstGeom prst="rect">
            <a:avLst/>
          </a:prstGeom>
          <a:noFill/>
          <a:ln/>
        </p:spPr>
        <p:txBody>
          <a:bodyPr wrap="square" lIns="0" tIns="0" rIns="0" bIns="0" rtlCol="0" anchor="t"/>
          <a:lstStyle/>
          <a:p>
            <a:pPr indent="0" marL="0">
              <a:buNone/>
            </a:pPr>
            <a:r>
              <a:rPr lang="en-US" sz="1400" dirty="0">
                <a:solidFill>
                  <a:schemeClr val="tx2"/>
                </a:solidFill>
              </a:rPr>
              <a:t>Composer plus a probability bar chart</a:t>
            </a:r>
            <a:endParaRPr lang="en-US" sz="1400" dirty="0"/>
          </a:p>
        </p:txBody>
      </p:sp>
      <p:sp>
        <p:nvSpPr>
          <p:cNvPr id="14" name="Step num 3"/>
          <p:cNvSpPr txBox="1"/>
          <p:nvPr/>
        </p:nvSpPr>
        <p:spPr>
          <a:xfrm>
            <a:off x="5943600" y="3520440"/>
            <a:ext cx="411480" cy="4114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Step head 3"/>
          <p:cNvSpPr txBox="1"/>
          <p:nvPr/>
        </p:nvSpPr>
        <p:spPr>
          <a:xfrm>
            <a:off x="6492240" y="3474720"/>
            <a:ext cx="2194560" cy="292608"/>
          </a:xfrm>
          <a:prstGeom prst="rect">
            <a:avLst/>
          </a:prstGeom>
          <a:noFill/>
          <a:ln/>
        </p:spPr>
        <p:txBody>
          <a:bodyPr wrap="square" lIns="0" tIns="0" rIns="0" bIns="0" rtlCol="0" anchor="ctr"/>
          <a:lstStyle/>
          <a:p>
            <a:pPr indent="0" marL="0">
              <a:buNone/>
            </a:pPr>
            <a:r>
              <a:rPr lang="en-US" sz="1600" b="1" dirty="0">
                <a:solidFill>
                  <a:schemeClr val="tx1"/>
                </a:solidFill>
              </a:rPr>
              <a:t>Two models</a:t>
            </a:r>
            <a:endParaRPr lang="en-US" sz="1600" dirty="0"/>
          </a:p>
        </p:txBody>
      </p:sp>
      <p:sp>
        <p:nvSpPr>
          <p:cNvPr id="16" name="Step body 3"/>
          <p:cNvSpPr txBox="1"/>
          <p:nvPr/>
        </p:nvSpPr>
        <p:spPr>
          <a:xfrm>
            <a:off x="6492240" y="3785616"/>
            <a:ext cx="2194560" cy="685800"/>
          </a:xfrm>
          <a:prstGeom prst="rect">
            <a:avLst/>
          </a:prstGeom>
          <a:noFill/>
          <a:ln/>
        </p:spPr>
        <p:txBody>
          <a:bodyPr wrap="square" lIns="0" tIns="0" rIns="0" bIns="0" rtlCol="0" anchor="t"/>
          <a:lstStyle/>
          <a:p>
            <a:pPr indent="0" marL="0">
              <a:buNone/>
            </a:pPr>
            <a:r>
              <a:rPr lang="en-US" sz="1400" dirty="0">
                <a:solidFill>
                  <a:schemeClr val="tx2"/>
                </a:solidFill>
              </a:rPr>
              <a:t>CNN works on uploads; FCNN on dataset pieces only</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4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Part tag"/>
          <p:cNvSpPr txBox="1"/>
          <p:nvPr/>
        </p:nvSpPr>
        <p:spPr>
          <a:xfrm>
            <a:off x="457200" y="256032"/>
            <a:ext cx="5486400" cy="228600"/>
          </a:xfrm>
          <a:prstGeom prst="rect">
            <a:avLst/>
          </a:prstGeom>
          <a:noFill/>
          <a:ln/>
        </p:spPr>
        <p:txBody>
          <a:bodyPr wrap="square" lIns="0" tIns="0" rIns="0" bIns="0" rtlCol="0" anchor="ctr"/>
          <a:lstStyle/>
          <a:p>
            <a:pPr indent="0" marL="0">
              <a:buNone/>
            </a:pPr>
            <a:r>
              <a:rPr lang="en-US" sz="1100" b="1" spc="200" kern="0" dirty="0">
                <a:solidFill>
                  <a:schemeClr val="tx2"/>
                </a:solidFill>
              </a:rPr>
              <a:t>WRAP-UP</a:t>
            </a:r>
            <a:endParaRPr lang="en-US" sz="1100" dirty="0"/>
          </a:p>
        </p:txBody>
      </p:sp>
      <p:sp>
        <p:nvSpPr>
          <p:cNvPr id="3" name="Text 0"/>
          <p:cNvSpPr/>
          <p:nvPr>
            <p:ph idx="100" type="title" hasCustomPrompt="1"/>
          </p:nvPr>
        </p:nvSpPr>
        <p:spPr>
          <a:xfrm>
            <a:off x="457200" y="5029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Limitations and next steps</a:t>
            </a:r>
            <a:endParaRPr lang="en-US" sz="3200" dirty="0"/>
          </a:p>
        </p:txBody>
      </p:sp>
      <p:sp>
        <p:nvSpPr>
          <p:cNvPr id="4" name="Card Limitations"/>
          <p:cNvSpPr/>
          <p:nvPr/>
        </p:nvSpPr>
        <p:spPr>
          <a:xfrm>
            <a:off x="457200" y="1280160"/>
            <a:ext cx="3977640" cy="2926080"/>
          </a:xfrm>
          <a:prstGeom prst="roundRect">
            <a:avLst>
              <a:gd name="adj" fmla="val 3750"/>
            </a:avLst>
          </a:prstGeom>
          <a:solidFill>
            <a:schemeClr val="bg2"/>
          </a:solidFill>
          <a:ln/>
        </p:spPr>
      </p:sp>
      <p:sp>
        <p:nvSpPr>
          <p:cNvPr id="5" name="Head Limitations"/>
          <p:cNvSpPr txBox="1"/>
          <p:nvPr/>
        </p:nvSpPr>
        <p:spPr>
          <a:xfrm>
            <a:off x="685800" y="1417320"/>
            <a:ext cx="3520440" cy="365760"/>
          </a:xfrm>
          <a:prstGeom prst="rect">
            <a:avLst/>
          </a:prstGeom>
          <a:noFill/>
          <a:ln/>
        </p:spPr>
        <p:txBody>
          <a:bodyPr wrap="square" lIns="0" tIns="0" rIns="0" bIns="0" rtlCol="0" anchor="ctr"/>
          <a:lstStyle/>
          <a:p>
            <a:pPr indent="0" marL="0">
              <a:buNone/>
            </a:pPr>
            <a:r>
              <a:rPr lang="en-US" sz="2000" b="1" dirty="0">
                <a:solidFill>
                  <a:schemeClr val="accent6"/>
                </a:solidFill>
                <a:latin typeface="Cambria" pitchFamily="34" charset="0"/>
                <a:ea typeface="Cambria" pitchFamily="34" charset="-122"/>
                <a:cs typeface="Cambria" pitchFamily="34" charset="-120"/>
              </a:rPr>
              <a:t>Limitations</a:t>
            </a:r>
            <a:endParaRPr lang="en-US" sz="2000" dirty="0"/>
          </a:p>
        </p:txBody>
      </p:sp>
      <p:sp>
        <p:nvSpPr>
          <p:cNvPr id="6" name="List Limitations"/>
          <p:cNvSpPr txBox="1"/>
          <p:nvPr/>
        </p:nvSpPr>
        <p:spPr>
          <a:xfrm>
            <a:off x="685800" y="1874520"/>
            <a:ext cx="3520440" cy="22402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Splits are per file: movements of one work can land in both train and test</a:t>
            </a:r>
            <a:endParaRPr lang="en-US" sz="1400" dirty="0"/>
          </a:p>
          <a:p>
            <a:pPr marL="342900" indent="-342900">
              <a:spcAft>
                <a:spcPts val="800"/>
              </a:spcAft>
              <a:buSzPct val="100000"/>
              <a:buChar char="•"/>
            </a:pPr>
            <a:r>
              <a:rPr lang="en-US" sz="1400" dirty="0">
                <a:solidFill>
                  <a:schemeClr val="tx1"/>
                </a:solidFill>
              </a:rPr>
              <a:t>49 test pieces, as few as 3 per composer; one piece is about 2 points</a:t>
            </a:r>
            <a:endParaRPr lang="en-US" sz="1400" dirty="0"/>
          </a:p>
          <a:p>
            <a:pPr marL="342900" indent="-342900">
              <a:spcAft>
                <a:spcPts val="800"/>
              </a:spcAft>
              <a:buSzPct val="100000"/>
              <a:buChar char="•"/>
            </a:pPr>
            <a:r>
              <a:rPr lang="en-US" sz="1400" dirty="0">
                <a:solidFill>
                  <a:schemeClr val="tx1"/>
                </a:solidFill>
              </a:rPr>
              <a:t>Neural results come from a single seed</a:t>
            </a:r>
            <a:endParaRPr lang="en-US" sz="1400" dirty="0"/>
          </a:p>
          <a:p>
            <a:pPr marL="342900" indent="-342900">
              <a:spcAft>
                <a:spcPts val="800"/>
              </a:spcAft>
              <a:buSzPct val="100000"/>
              <a:buChar char="•"/>
            </a:pPr>
            <a:r>
              <a:rPr lang="en-US" sz="1400" dirty="0">
                <a:solidFill>
                  <a:schemeClr val="tx1"/>
                </a:solidFill>
              </a:rPr>
              <a:t>Piano rolls crop pieces to the first 153.6 s</a:t>
            </a:r>
            <a:endParaRPr lang="en-US" sz="1400" dirty="0"/>
          </a:p>
        </p:txBody>
      </p:sp>
      <p:sp>
        <p:nvSpPr>
          <p:cNvPr id="7" name="Card Next steps"/>
          <p:cNvSpPr/>
          <p:nvPr/>
        </p:nvSpPr>
        <p:spPr>
          <a:xfrm>
            <a:off x="4709160" y="1280160"/>
            <a:ext cx="3977640" cy="2926080"/>
          </a:xfrm>
          <a:prstGeom prst="roundRect">
            <a:avLst>
              <a:gd name="adj" fmla="val 3750"/>
            </a:avLst>
          </a:prstGeom>
          <a:solidFill>
            <a:schemeClr val="bg2"/>
          </a:solidFill>
          <a:ln/>
        </p:spPr>
      </p:sp>
      <p:sp>
        <p:nvSpPr>
          <p:cNvPr id="8" name="Head Next steps"/>
          <p:cNvSpPr txBox="1"/>
          <p:nvPr/>
        </p:nvSpPr>
        <p:spPr>
          <a:xfrm>
            <a:off x="4937760" y="1417320"/>
            <a:ext cx="3520440" cy="365760"/>
          </a:xfrm>
          <a:prstGeom prst="rect">
            <a:avLst/>
          </a:prstGeom>
          <a:noFill/>
          <a:ln/>
        </p:spPr>
        <p:txBody>
          <a:bodyPr wrap="square" lIns="0" tIns="0" rIns="0" bIns="0" rtlCol="0" anchor="ctr"/>
          <a:lstStyle/>
          <a:p>
            <a:pPr indent="0" marL="0">
              <a:buNone/>
            </a:pPr>
            <a:r>
              <a:rPr lang="en-US" sz="2000" b="1" dirty="0">
                <a:solidFill>
                  <a:schemeClr val="accent2"/>
                </a:solidFill>
                <a:latin typeface="Cambria" pitchFamily="34" charset="0"/>
                <a:ea typeface="Cambria" pitchFamily="34" charset="-122"/>
                <a:cs typeface="Cambria" pitchFamily="34" charset="-120"/>
              </a:rPr>
              <a:t>Next steps</a:t>
            </a:r>
            <a:endParaRPr lang="en-US" sz="2000" dirty="0"/>
          </a:p>
        </p:txBody>
      </p:sp>
      <p:sp>
        <p:nvSpPr>
          <p:cNvPr id="9" name="List Next steps"/>
          <p:cNvSpPr txBox="1"/>
          <p:nvPr/>
        </p:nvSpPr>
        <p:spPr>
          <a:xfrm>
            <a:off x="4937760" y="1874520"/>
            <a:ext cx="3520440" cy="22402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Split by composition (GroupKFold) and repeat over seeds</a:t>
            </a:r>
            <a:endParaRPr lang="en-US" sz="1400" dirty="0"/>
          </a:p>
          <a:p>
            <a:pPr marL="342900" indent="-342900">
              <a:spcAft>
                <a:spcPts val="800"/>
              </a:spcAft>
              <a:buSzPct val="100000"/>
              <a:buChar char="•"/>
            </a:pPr>
            <a:r>
              <a:rPr lang="en-US" sz="1400" dirty="0">
                <a:solidFill>
                  <a:schemeClr val="tx1"/>
                </a:solidFill>
              </a:rPr>
              <a:t>Extract a true melodic line: top voice or per hand</a:t>
            </a:r>
            <a:endParaRPr lang="en-US" sz="1400" dirty="0"/>
          </a:p>
          <a:p>
            <a:pPr marL="342900" indent="-342900">
              <a:spcAft>
                <a:spcPts val="800"/>
              </a:spcAft>
              <a:buSzPct val="100000"/>
              <a:buChar char="•"/>
            </a:pPr>
            <a:r>
              <a:rPr lang="en-US" sz="1400" dirty="0">
                <a:solidFill>
                  <a:schemeClr val="tx1"/>
                </a:solidFill>
              </a:rPr>
              <a:t>More data, or pretrained music models</a:t>
            </a:r>
            <a:endParaRPr lang="en-US" sz="1400" dirty="0"/>
          </a:p>
          <a:p>
            <a:pPr marL="342900" indent="-342900">
              <a:spcAft>
                <a:spcPts val="800"/>
              </a:spcAft>
              <a:buSzPct val="100000"/>
              <a:buChar char="•"/>
            </a:pPr>
            <a:r>
              <a:rPr lang="en-US" sz="1400" dirty="0">
                <a:solidFill>
                  <a:schemeClr val="tx1"/>
                </a:solidFill>
              </a:rPr>
              <a:t>Compute the 78 features for uploads so the FCNN works in the demo</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C54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8046720" cy="685800"/>
          </a:xfrm>
          <a:prstGeom prst="rect">
            <a:avLst/>
          </a:prstGeom>
          <a:noFill/>
          <a:ln/>
        </p:spPr>
        <p:txBody>
          <a:bodyPr wrap="square" lIns="0" tIns="0" rIns="0" bIns="0" rtlCol="0" anchor="ctr"/>
          <a:lstStyle/>
          <a:p>
            <a:pPr algn="l" indent="0" marL="0">
              <a:buNone/>
            </a:pPr>
            <a:r>
              <a:rPr lang="en-US" sz="3200" b="1" dirty="0">
                <a:solidFill>
                  <a:schemeClr val="bg1"/>
                </a:solidFill>
              </a:rPr>
              <a:t>Takeaways</a:t>
            </a:r>
            <a:endParaRPr lang="en-US" sz="3200" dirty="0"/>
          </a:p>
        </p:txBody>
      </p:sp>
      <p:sp>
        <p:nvSpPr>
          <p:cNvPr id="3" name="Bar label 0"/>
          <p:cNvSpPr txBox="1"/>
          <p:nvPr/>
        </p:nvSpPr>
        <p:spPr>
          <a:xfrm>
            <a:off x="548640" y="1463040"/>
            <a:ext cx="3657600" cy="274320"/>
          </a:xfrm>
          <a:prstGeom prst="rect">
            <a:avLst/>
          </a:prstGeom>
          <a:noFill/>
          <a:ln/>
        </p:spPr>
        <p:txBody>
          <a:bodyPr wrap="square" lIns="0" tIns="0" rIns="0" bIns="0" rtlCol="0" anchor="ctr"/>
          <a:lstStyle/>
          <a:p>
            <a:pPr indent="0" marL="0">
              <a:buNone/>
            </a:pPr>
            <a:r>
              <a:rPr lang="en-US" sz="1400" dirty="0">
                <a:solidFill>
                  <a:schemeClr val="bg2"/>
                </a:solidFill>
              </a:rPr>
              <a:t>Random guess</a:t>
            </a:r>
            <a:endParaRPr lang="en-US" sz="1400" dirty="0"/>
          </a:p>
        </p:txBody>
      </p:sp>
      <p:sp>
        <p:nvSpPr>
          <p:cNvPr id="4" name="Bar 0"/>
          <p:cNvSpPr/>
          <p:nvPr/>
        </p:nvSpPr>
        <p:spPr>
          <a:xfrm>
            <a:off x="548640" y="1755648"/>
            <a:ext cx="645459" cy="274320"/>
          </a:xfrm>
          <a:prstGeom prst="roundRect">
            <a:avLst>
              <a:gd name="adj" fmla="val 16667"/>
            </a:avLst>
          </a:prstGeom>
          <a:solidFill>
            <a:schemeClr val="accent4"/>
          </a:solidFill>
          <a:ln/>
        </p:spPr>
      </p:sp>
      <p:sp>
        <p:nvSpPr>
          <p:cNvPr id="5" name="Bar value 0"/>
          <p:cNvSpPr txBox="1"/>
          <p:nvPr/>
        </p:nvSpPr>
        <p:spPr>
          <a:xfrm>
            <a:off x="1285539" y="1755648"/>
            <a:ext cx="822960" cy="274320"/>
          </a:xfrm>
          <a:prstGeom prst="rect">
            <a:avLst/>
          </a:prstGeom>
          <a:noFill/>
          <a:ln/>
        </p:spPr>
        <p:txBody>
          <a:bodyPr wrap="square" lIns="0" tIns="0" rIns="0" bIns="0" rtlCol="0" anchor="ctr"/>
          <a:lstStyle/>
          <a:p>
            <a:pPr indent="0" marL="0">
              <a:buNone/>
            </a:pPr>
            <a:r>
              <a:rPr lang="en-US" sz="1400" b="1" dirty="0">
                <a:solidFill>
                  <a:schemeClr val="bg1"/>
                </a:solidFill>
              </a:rPr>
              <a:t>9.0%</a:t>
            </a:r>
            <a:endParaRPr lang="en-US" sz="1400" dirty="0"/>
          </a:p>
        </p:txBody>
      </p:sp>
      <p:sp>
        <p:nvSpPr>
          <p:cNvPr id="6" name="Bar label 1"/>
          <p:cNvSpPr txBox="1"/>
          <p:nvPr/>
        </p:nvSpPr>
        <p:spPr>
          <a:xfrm>
            <a:off x="548640" y="2194560"/>
            <a:ext cx="3657600" cy="274320"/>
          </a:xfrm>
          <a:prstGeom prst="rect">
            <a:avLst/>
          </a:prstGeom>
          <a:noFill/>
          <a:ln/>
        </p:spPr>
        <p:txBody>
          <a:bodyPr wrap="square" lIns="0" tIns="0" rIns="0" bIns="0" rtlCol="0" anchor="ctr"/>
          <a:lstStyle/>
          <a:p>
            <a:pPr indent="0" marL="0">
              <a:buNone/>
            </a:pPr>
            <a:r>
              <a:rPr lang="en-US" sz="1400" dirty="0">
                <a:solidFill>
                  <a:schemeClr val="bg2"/>
                </a:solidFill>
              </a:rPr>
              <a:t>Always Chopin</a:t>
            </a:r>
            <a:endParaRPr lang="en-US" sz="1400" dirty="0"/>
          </a:p>
        </p:txBody>
      </p:sp>
      <p:sp>
        <p:nvSpPr>
          <p:cNvPr id="7" name="Bar 1"/>
          <p:cNvSpPr/>
          <p:nvPr/>
        </p:nvSpPr>
        <p:spPr>
          <a:xfrm>
            <a:off x="548640" y="2487168"/>
            <a:ext cx="1319605" cy="274320"/>
          </a:xfrm>
          <a:prstGeom prst="roundRect">
            <a:avLst>
              <a:gd name="adj" fmla="val 16667"/>
            </a:avLst>
          </a:prstGeom>
          <a:solidFill>
            <a:schemeClr val="accent4"/>
          </a:solidFill>
          <a:ln/>
        </p:spPr>
      </p:sp>
      <p:sp>
        <p:nvSpPr>
          <p:cNvPr id="8" name="Bar value 1"/>
          <p:cNvSpPr txBox="1"/>
          <p:nvPr/>
        </p:nvSpPr>
        <p:spPr>
          <a:xfrm>
            <a:off x="1959685" y="2487168"/>
            <a:ext cx="822960" cy="274320"/>
          </a:xfrm>
          <a:prstGeom prst="rect">
            <a:avLst/>
          </a:prstGeom>
          <a:noFill/>
          <a:ln/>
        </p:spPr>
        <p:txBody>
          <a:bodyPr wrap="square" lIns="0" tIns="0" rIns="0" bIns="0" rtlCol="0" anchor="ctr"/>
          <a:lstStyle/>
          <a:p>
            <a:pPr indent="0" marL="0">
              <a:buNone/>
            </a:pPr>
            <a:r>
              <a:rPr lang="en-US" sz="1400" b="1" dirty="0">
                <a:solidFill>
                  <a:schemeClr val="bg1"/>
                </a:solidFill>
              </a:rPr>
              <a:t>18.4%</a:t>
            </a:r>
            <a:endParaRPr lang="en-US" sz="1400" dirty="0"/>
          </a:p>
        </p:txBody>
      </p:sp>
      <p:sp>
        <p:nvSpPr>
          <p:cNvPr id="9" name="Bar label 2"/>
          <p:cNvSpPr txBox="1"/>
          <p:nvPr/>
        </p:nvSpPr>
        <p:spPr>
          <a:xfrm>
            <a:off x="548640" y="2926080"/>
            <a:ext cx="3657600" cy="274320"/>
          </a:xfrm>
          <a:prstGeom prst="rect">
            <a:avLst/>
          </a:prstGeom>
          <a:noFill/>
          <a:ln/>
        </p:spPr>
        <p:txBody>
          <a:bodyPr wrap="square" lIns="0" tIns="0" rIns="0" bIns="0" rtlCol="0" anchor="ctr"/>
          <a:lstStyle/>
          <a:p>
            <a:pPr indent="0" marL="0">
              <a:buNone/>
            </a:pPr>
            <a:r>
              <a:rPr lang="en-US" sz="1400" dirty="0">
                <a:solidFill>
                  <a:schemeClr val="bg2"/>
                </a:solidFill>
              </a:rPr>
              <a:t>Logistic Regression</a:t>
            </a:r>
            <a:endParaRPr lang="en-US" sz="1400" dirty="0"/>
          </a:p>
        </p:txBody>
      </p:sp>
      <p:sp>
        <p:nvSpPr>
          <p:cNvPr id="10" name="Bar 2"/>
          <p:cNvSpPr/>
          <p:nvPr/>
        </p:nvSpPr>
        <p:spPr>
          <a:xfrm>
            <a:off x="548640" y="3218688"/>
            <a:ext cx="3363558" cy="274320"/>
          </a:xfrm>
          <a:prstGeom prst="roundRect">
            <a:avLst>
              <a:gd name="adj" fmla="val 16667"/>
            </a:avLst>
          </a:prstGeom>
          <a:solidFill>
            <a:schemeClr val="accent5"/>
          </a:solidFill>
          <a:ln/>
        </p:spPr>
      </p:sp>
      <p:sp>
        <p:nvSpPr>
          <p:cNvPr id="11" name="Bar value 2"/>
          <p:cNvSpPr txBox="1"/>
          <p:nvPr/>
        </p:nvSpPr>
        <p:spPr>
          <a:xfrm>
            <a:off x="4003638" y="3218688"/>
            <a:ext cx="822960" cy="274320"/>
          </a:xfrm>
          <a:prstGeom prst="rect">
            <a:avLst/>
          </a:prstGeom>
          <a:noFill/>
          <a:ln/>
        </p:spPr>
        <p:txBody>
          <a:bodyPr wrap="square" lIns="0" tIns="0" rIns="0" bIns="0" rtlCol="0" anchor="ctr"/>
          <a:lstStyle/>
          <a:p>
            <a:pPr indent="0" marL="0">
              <a:buNone/>
            </a:pPr>
            <a:r>
              <a:rPr lang="en-US" sz="1400" b="1" dirty="0">
                <a:solidFill>
                  <a:schemeClr val="bg1"/>
                </a:solidFill>
              </a:rPr>
              <a:t>46.9%</a:t>
            </a:r>
            <a:endParaRPr lang="en-US" sz="1400" dirty="0"/>
          </a:p>
        </p:txBody>
      </p:sp>
      <p:sp>
        <p:nvSpPr>
          <p:cNvPr id="12" name="Bar label 3"/>
          <p:cNvSpPr txBox="1"/>
          <p:nvPr/>
        </p:nvSpPr>
        <p:spPr>
          <a:xfrm>
            <a:off x="548640" y="3657600"/>
            <a:ext cx="3657600" cy="274320"/>
          </a:xfrm>
          <a:prstGeom prst="rect">
            <a:avLst/>
          </a:prstGeom>
          <a:noFill/>
          <a:ln/>
        </p:spPr>
        <p:txBody>
          <a:bodyPr wrap="square" lIns="0" tIns="0" rIns="0" bIns="0" rtlCol="0" anchor="ctr"/>
          <a:lstStyle/>
          <a:p>
            <a:pPr indent="0" marL="0">
              <a:buNone/>
            </a:pPr>
            <a:r>
              <a:rPr lang="en-US" sz="1400" dirty="0">
                <a:solidFill>
                  <a:schemeClr val="bg2"/>
                </a:solidFill>
              </a:rPr>
              <a:t>Fully connected NN</a:t>
            </a:r>
            <a:endParaRPr lang="en-US" sz="1400" dirty="0"/>
          </a:p>
        </p:txBody>
      </p:sp>
      <p:sp>
        <p:nvSpPr>
          <p:cNvPr id="13" name="Bar 3"/>
          <p:cNvSpPr/>
          <p:nvPr/>
        </p:nvSpPr>
        <p:spPr>
          <a:xfrm>
            <a:off x="548640" y="3950208"/>
            <a:ext cx="3657600" cy="274320"/>
          </a:xfrm>
          <a:prstGeom prst="roundRect">
            <a:avLst>
              <a:gd name="adj" fmla="val 16667"/>
            </a:avLst>
          </a:prstGeom>
          <a:solidFill>
            <a:schemeClr val="accent3"/>
          </a:solidFill>
          <a:ln/>
        </p:spPr>
      </p:sp>
      <p:sp>
        <p:nvSpPr>
          <p:cNvPr id="14" name="Bar value 3"/>
          <p:cNvSpPr txBox="1"/>
          <p:nvPr/>
        </p:nvSpPr>
        <p:spPr>
          <a:xfrm>
            <a:off x="4297680" y="3950208"/>
            <a:ext cx="822960" cy="274320"/>
          </a:xfrm>
          <a:prstGeom prst="rect">
            <a:avLst/>
          </a:prstGeom>
          <a:noFill/>
          <a:ln/>
        </p:spPr>
        <p:txBody>
          <a:bodyPr wrap="square" lIns="0" tIns="0" rIns="0" bIns="0" rtlCol="0" anchor="ctr"/>
          <a:lstStyle/>
          <a:p>
            <a:pPr indent="0" marL="0">
              <a:buNone/>
            </a:pPr>
            <a:r>
              <a:rPr lang="en-US" sz="1400" b="1" dirty="0">
                <a:solidFill>
                  <a:schemeClr val="bg1"/>
                </a:solidFill>
              </a:rPr>
              <a:t>51.0%</a:t>
            </a:r>
            <a:endParaRPr lang="en-US" sz="1400" dirty="0"/>
          </a:p>
        </p:txBody>
      </p:sp>
      <p:sp>
        <p:nvSpPr>
          <p:cNvPr id="15" name="Bars caption"/>
          <p:cNvSpPr txBox="1"/>
          <p:nvPr/>
        </p:nvSpPr>
        <p:spPr>
          <a:xfrm>
            <a:off x="548640" y="4434840"/>
            <a:ext cx="4114800" cy="228600"/>
          </a:xfrm>
          <a:prstGeom prst="rect">
            <a:avLst/>
          </a:prstGeom>
          <a:noFill/>
          <a:ln/>
        </p:spPr>
        <p:txBody>
          <a:bodyPr wrap="square" lIns="0" tIns="0" rIns="0" bIns="0" rtlCol="0" anchor="ctr"/>
          <a:lstStyle/>
          <a:p>
            <a:pPr indent="0" marL="0">
              <a:buNone/>
            </a:pPr>
            <a:r>
              <a:rPr lang="en-US" sz="1000" dirty="0">
                <a:solidFill>
                  <a:schemeClr val="bg2"/>
                </a:solidFill>
              </a:rPr>
              <a:t>Test accuracy, 11 composers</a:t>
            </a:r>
            <a:endParaRPr lang="en-US" sz="1000" dirty="0"/>
          </a:p>
        </p:txBody>
      </p:sp>
      <p:sp>
        <p:nvSpPr>
          <p:cNvPr id="16" name="Takeaways list"/>
          <p:cNvSpPr txBox="1"/>
          <p:nvPr/>
        </p:nvSpPr>
        <p:spPr>
          <a:xfrm>
            <a:off x="5120640" y="1417320"/>
            <a:ext cx="356616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bg1"/>
                </a:solidFill>
              </a:rPr>
              <a:t>Hand-engineered features carry real stylistic signal; interval features carry the most.</a:t>
            </a:r>
            <a:endParaRPr lang="en-US" sz="1600" dirty="0"/>
          </a:p>
          <a:p>
            <a:pPr marL="342900" indent="-342900">
              <a:spcAft>
                <a:spcPts val="1200"/>
              </a:spcAft>
              <a:buSzPct val="100000"/>
              <a:buChar char="•"/>
            </a:pPr>
            <a:r>
              <a:rPr lang="en-US" sz="1600" dirty="0">
                <a:solidFill>
                  <a:schemeClr val="bg1"/>
                </a:solidFill>
              </a:rPr>
              <a:t>Classical vs. Romantic is far easier than naming the composer.</a:t>
            </a:r>
            <a:endParaRPr lang="en-US" sz="1600" dirty="0"/>
          </a:p>
          <a:p>
            <a:pPr marL="342900" indent="-342900">
              <a:spcAft>
                <a:spcPts val="1200"/>
              </a:spcAft>
              <a:buSzPct val="100000"/>
              <a:buChar char="•"/>
            </a:pPr>
            <a:r>
              <a:rPr lang="en-US" sz="1600" dirty="0">
                <a:solidFill>
                  <a:schemeClr val="bg1"/>
                </a:solidFill>
              </a:rPr>
              <a:t>A CNN on raw piano rolls does not keep up at 245 pieces, though augmentation narrows the gap.</a:t>
            </a:r>
            <a:endParaRPr lang="en-US" sz="1600" dirty="0"/>
          </a:p>
          <a:p>
            <a:pPr marL="342900" indent="-342900">
              <a:spcAft>
                <a:spcPts val="1200"/>
              </a:spcAft>
              <a:buSzPct val="100000"/>
              <a:buChar char="•"/>
            </a:pPr>
            <a:r>
              <a:rPr lang="en-US" sz="1600" dirty="0">
                <a:solidFill>
                  <a:schemeClr val="bg1"/>
                </a:solidFill>
              </a:rPr>
              <a:t>Treat the exact numbers as estimates: small, imbalanced data and file-level splits.</a:t>
            </a:r>
            <a:endParaRPr lang="en-US" sz="1600" dirty="0"/>
          </a:p>
        </p:txBody>
      </p:sp>
    </p:spTree>
  </p:cSld>
  <p:clrMapOvr>
    <a:masterClrMapping/>
  </p:clrMapOvr>
</p:sld>
</file>

<file path=ppt/theme/theme1.xml><?xml version="1.0" encoding="utf-8"?>
<a:theme xmlns:a="http://schemas.openxmlformats.org/drawingml/2006/main" name="MIDI Composer">
  <a:themeElements>
    <a:clrScheme name="MIDI Composer">
      <a:dk1>
        <a:srgbClr val="1E1530"/>
      </a:dk1>
      <a:lt1>
        <a:srgbClr val="FFFFFF"/>
      </a:lt1>
      <a:dk2>
        <a:srgbClr val="5C5470"/>
      </a:dk2>
      <a:lt2>
        <a:srgbClr val="F4F1F8"/>
      </a:lt2>
      <a:accent1>
        <a:srgbClr val="5B3A8C"/>
      </a:accent1>
      <a:accent2>
        <a:srgbClr val="1F8A8A"/>
      </a:accent2>
      <a:accent3>
        <a:srgbClr val="E8A33D"/>
      </a:accent3>
      <a:accent4>
        <a:srgbClr val="8E7AB5"/>
      </a:accent4>
      <a:accent5>
        <a:srgbClr val="6BB5B5"/>
      </a:accent5>
      <a:accent6>
        <a:srgbClr val="C4533C"/>
      </a:accent6>
      <a:hlink>
        <a:srgbClr val="1F8A8A"/>
      </a:hlink>
      <a:folHlink>
        <a:srgbClr val="8E7AB5"/>
      </a:folHlink>
    </a:clrScheme>
    <a:fontScheme name="MIDI Compos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MIDI Composer Classification</dc:title>
  <dc:subject>PptxGenJS Presentation</dc:subject>
  <dc:creator>Pranathi &amp; Likhita</dc:creator>
  <cp:lastModifiedBy>Pranathi &amp; Likhita</cp:lastModifiedBy>
  <cp:revision>1</cp:revision>
  <dcterms:created xsi:type="dcterms:W3CDTF">2026-10-13T01:19:30Z</dcterms:created>
  <dcterms:modified xsi:type="dcterms:W3CDTF">2026-10-13T01:19:30Z</dcterms:modified>
</cp:coreProperties>
</file>